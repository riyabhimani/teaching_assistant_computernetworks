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14" r:id="rId2"/>
    <p:sldId id="336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45" r:id="rId12"/>
    <p:sldId id="275" r:id="rId13"/>
  </p:sldIdLst>
  <p:sldSz cx="12192000" cy="6858000"/>
  <p:notesSz cx="6954838" cy="93091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Noto Sans Symbols" pitchFamily="2" charset="0"/>
      <p:regular r:id="rId19"/>
      <p:bold r:id="rId20"/>
    </p:embeddedFont>
    <p:embeddedFont>
      <p:font typeface="Roboto Condensed" panose="020F0502020204030204" pitchFamily="34" charset="0"/>
      <p:regular r:id="rId21"/>
      <p:bold r:id="rId22"/>
      <p:italic r:id="rId23"/>
      <p:boldItalic r:id="rId24"/>
    </p:embeddedFont>
    <p:embeddedFont>
      <p:font typeface="Roboto Condensed Light" panose="020F0302020204030204" pitchFamily="34" charset="0"/>
      <p:regular r:id="rId25"/>
      <p:bold r:id="rId26"/>
      <p:italic r:id="rId27"/>
      <p:boldItalic r:id="rId28"/>
    </p:embeddedFont>
    <p:embeddedFont>
      <p:font typeface="Wingdings 3" pitchFamily="2" charset="2"/>
      <p:regular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modifyVerifier cryptProviderType="rsaAES" cryptAlgorithmClass="hash" cryptAlgorithmType="typeAny" cryptAlgorithmSid="14" spinCount="100000" saltData="TqErnuLMNBhJYmUKNX9bAg==" hashData="8368ghn7Ps1MmymWhpizav8Caetg/D1LqWY6XAKt0FbsX6GHLa/+AF8/0hUJ3kv6I8j9AC3IeoiSRzdQ9CN7tA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4742"/>
    <a:srgbClr val="E6BA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76"/>
    <p:restoredTop sz="95798"/>
  </p:normalViewPr>
  <p:slideViewPr>
    <p:cSldViewPr snapToGrid="0">
      <p:cViewPr varScale="1">
        <p:scale>
          <a:sx n="117" d="100"/>
          <a:sy n="117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39466" y="0"/>
            <a:ext cx="3013763" cy="467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63638"/>
            <a:ext cx="5583238" cy="31416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95484" y="4480004"/>
            <a:ext cx="5563870" cy="366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tif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Google Shape;58;p4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6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8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/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/>
          <p:cNvSpPr txBox="1"/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/>
          <p:cNvPicPr preferRelativeResize="0"/>
          <p:nvPr userDrawn="1"/>
        </p:nvPicPr>
        <p:blipFill rotWithShape="1">
          <a:blip r:embed="rId3"/>
          <a:srcRect t="86739" r="1768" b="3535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430" indent="-265430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1"/>
          <p:cNvSpPr txBox="1"/>
          <p:nvPr userDrawn="1"/>
        </p:nvSpPr>
        <p:spPr>
          <a:xfrm>
            <a:off x="838200" y="6602875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2301CS501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- Logo on BL">
  <p:cSld name="Title and Content - Logo on BL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12" name="Google Shape;112;p8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13" name="Google Shape;113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14" name="Google Shape;114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8"/>
          <p:cNvSpPr txBox="1"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spcFirstLastPara="1" wrap="square" lIns="216000" tIns="108000" rIns="216000" bIns="1080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3400"/>
              <a:buFont typeface="Roboto Condensed" panose="02000000000000000000"/>
              <a:buNone/>
              <a:defRPr sz="34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1"/>
          </p:nvPr>
        </p:nvSpPr>
        <p:spPr>
          <a:xfrm>
            <a:off x="131180" y="863444"/>
            <a:ext cx="11929641" cy="559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Noto Sans Symbols"/>
              <a:defRPr sz="2400">
                <a:solidFill>
                  <a:schemeClr val="dk1"/>
                </a:solidFill>
              </a:defRPr>
            </a:lvl1pPr>
            <a:lvl2pPr marL="914400" lvl="1" indent="-355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⮩"/>
              <a:defRPr sz="2000">
                <a:solidFill>
                  <a:schemeClr val="dk1"/>
                </a:solidFill>
              </a:defRPr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sz="1800">
                <a:solidFill>
                  <a:schemeClr val="dk1"/>
                </a:solidFill>
              </a:defRPr>
            </a:lvl3pPr>
            <a:lvl4pPr marL="1828800" lvl="3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cxnSp>
        <p:nvCxnSpPr>
          <p:cNvPr id="117" name="Google Shape;117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" name="Google Shape;118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9" name="Google Shape;119;p8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2"/>
          <a:srcRect t="86739" r="1768" b="3534"/>
          <a:stretch>
            <a:fillRect/>
          </a:stretch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8"/>
          <p:cNvCxnSpPr/>
          <p:nvPr/>
        </p:nvCxnSpPr>
        <p:spPr>
          <a:xfrm>
            <a:off x="0" y="71120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4" name="Google Shape;124;p8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25" name="Google Shape;125;p8"/>
          <p:cNvGrpSpPr/>
          <p:nvPr/>
        </p:nvGrpSpPr>
        <p:grpSpPr>
          <a:xfrm>
            <a:off x="218352" y="5580556"/>
            <a:ext cx="2554142" cy="828000"/>
            <a:chOff x="131178" y="5775961"/>
            <a:chExt cx="2530238" cy="820250"/>
          </a:xfrm>
        </p:grpSpPr>
        <p:pic>
          <p:nvPicPr>
            <p:cNvPr id="126" name="Google Shape;126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8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 2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TR">
  <p:cSld name="Blanck - Logo on T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33" name="Google Shape;133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4" name="Google Shape;134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5" name="Google Shape;135;p9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38" name="Google Shape;138;p9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9" name="Google Shape;139;p9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40" name="Google Shape;140;p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9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R">
  <p:cSld name="Blanck - Logo on BR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45" name="Google Shape;145;p10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46" name="Google Shape;146;p10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47" name="Google Shape;147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48" name="Google Shape;148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" name="Google Shape;149;p10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52" name="Google Shape;152;p10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3" name="Google Shape;153;p10"/>
          <p:cNvGrpSpPr/>
          <p:nvPr/>
        </p:nvGrpSpPr>
        <p:grpSpPr>
          <a:xfrm>
            <a:off x="9637856" y="0"/>
            <a:ext cx="2554142" cy="828000"/>
            <a:chOff x="131178" y="5775961"/>
            <a:chExt cx="2530238" cy="820250"/>
          </a:xfrm>
        </p:grpSpPr>
        <p:pic>
          <p:nvPicPr>
            <p:cNvPr id="154" name="Google Shape;154;p1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0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ck - Logo on BL">
  <p:cSld name="Blanck - Logo on BL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382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Prof. Jay R Dhamsaniya</a:t>
            </a:r>
            <a:endParaRPr sz="1200">
              <a:solidFill>
                <a:srgbClr val="363636"/>
              </a:solidFill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160" name="Google Shape;160;p11"/>
          <p:cNvSpPr txBox="1"/>
          <p:nvPr/>
        </p:nvSpPr>
        <p:spPr>
          <a:xfrm>
            <a:off x="4038600" y="6604000"/>
            <a:ext cx="41148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#3130006 (PS)   </a:t>
            </a:r>
            <a:r>
              <a:rPr lang="en-US" sz="120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Unit 1 – Basic Probability</a:t>
            </a:r>
          </a:p>
        </p:txBody>
      </p:sp>
      <p:sp>
        <p:nvSpPr>
          <p:cNvPr id="161" name="Google Shape;161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2" name="Google Shape;162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11"/>
          <p:cNvSpPr/>
          <p:nvPr/>
        </p:nvSpPr>
        <p:spPr>
          <a:xfrm>
            <a:off x="143018" y="6569871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sp>
        <p:nvSpPr>
          <p:cNvPr id="165" name="Google Shape;165;p11"/>
          <p:cNvSpPr txBox="1"/>
          <p:nvPr/>
        </p:nvSpPr>
        <p:spPr>
          <a:xfrm>
            <a:off x="8610600" y="6604000"/>
            <a:ext cx="2743200" cy="255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1">
                <a:solidFill>
                  <a:srgbClr val="363636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‹#›</a:t>
            </a:fld>
            <a:endParaRPr sz="1200" b="1">
              <a:solidFill>
                <a:srgbClr val="363636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cxnSp>
        <p:nvCxnSpPr>
          <p:cNvPr id="166" name="Google Shape;166;p11"/>
          <p:cNvCxnSpPr/>
          <p:nvPr/>
        </p:nvCxnSpPr>
        <p:spPr>
          <a:xfrm>
            <a:off x="0" y="6606251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BFBFBF">
                <a:alpha val="6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67" name="Google Shape;167;p11"/>
          <p:cNvGrpSpPr/>
          <p:nvPr/>
        </p:nvGrpSpPr>
        <p:grpSpPr>
          <a:xfrm>
            <a:off x="143018" y="5741871"/>
            <a:ext cx="2554142" cy="828000"/>
            <a:chOff x="131178" y="5775961"/>
            <a:chExt cx="2530238" cy="820250"/>
          </a:xfrm>
        </p:grpSpPr>
        <p:pic>
          <p:nvPicPr>
            <p:cNvPr id="168" name="Google Shape;168;p1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752314" y="5775961"/>
              <a:ext cx="1815353" cy="820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1"/>
            <p:cNvSpPr/>
            <p:nvPr/>
          </p:nvSpPr>
          <p:spPr>
            <a:xfrm>
              <a:off x="131178" y="5775961"/>
              <a:ext cx="2530238" cy="820250"/>
            </a:xfrm>
            <a:prstGeom prst="rect">
              <a:avLst/>
            </a:prstGeom>
            <a:solidFill>
              <a:schemeClr val="l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endParaRPr>
            </a:p>
          </p:txBody>
        </p:sp>
      </p:grpSp>
      <p:sp>
        <p:nvSpPr>
          <p:cNvPr id="2" name="Date Placeholder 1"/>
          <p:cNvSpPr txBox="1"/>
          <p:nvPr userDrawn="1"/>
        </p:nvSpPr>
        <p:spPr>
          <a:xfrm>
            <a:off x="875709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itchFamily="2" charset="0"/>
              <a:ea typeface="Roboto Condensed Light" pitchFamily="2" charset="0"/>
            </a:endParaRPr>
          </a:p>
        </p:txBody>
      </p:sp>
      <p:sp>
        <p:nvSpPr>
          <p:cNvPr id="4" name="Google Shape;128;p8"/>
          <p:cNvSpPr txBox="1"/>
          <p:nvPr userDrawn="1"/>
        </p:nvSpPr>
        <p:spPr>
          <a:xfrm>
            <a:off x="4038600" y="6604000"/>
            <a:ext cx="4761058" cy="253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200"/>
              <a:buFont typeface="Roboto Condensed Light"/>
              <a:buNone/>
            </a:pP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#</a:t>
            </a:r>
            <a:r>
              <a:rPr lang="en-US" sz="1200" dirty="0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rPr>
              <a:t> 2104CS301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(CN)   </a:t>
            </a:r>
            <a:r>
              <a:rPr lang="en-US" sz="1200" dirty="0">
                <a:solidFill>
                  <a:srgbClr val="363636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⬥</a:t>
            </a:r>
            <a:r>
              <a:rPr lang="en-US" sz="1200" dirty="0">
                <a:solidFill>
                  <a:srgbClr val="363636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   LAB 2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3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  <a:defRPr sz="6000" b="1">
                <a:solidFill>
                  <a:srgbClr val="1D3064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2000"/>
              <a:buNone/>
              <a:defRPr sz="2000">
                <a:solidFill>
                  <a:srgbClr val="8A8A8A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800"/>
              <a:buNone/>
              <a:defRPr sz="1800">
                <a:solidFill>
                  <a:srgbClr val="8A8A8A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A8A8A"/>
              </a:buClr>
              <a:buSzPts val="1600"/>
              <a:buNone/>
              <a:defRPr sz="1600">
                <a:solidFill>
                  <a:srgbClr val="8A8A8A"/>
                </a:solidFill>
              </a:defRPr>
            </a:lvl9pPr>
          </a:lstStyle>
          <a:p>
            <a:endParaRPr/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2"/>
          <a:srcRect r="11581" b="21179"/>
          <a:stretch>
            <a:fillRect/>
          </a:stretch>
        </p:blipFill>
        <p:spPr>
          <a:xfrm rot="-5400000">
            <a:off x="9807099" y="606901"/>
            <a:ext cx="2991808" cy="177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4"/>
          <a:srcRect l="79646" t="18062" r="2730" b="17724"/>
          <a:stretch>
            <a:fillRect/>
          </a:stretch>
        </p:blipFill>
        <p:spPr>
          <a:xfrm>
            <a:off x="0" y="401568"/>
            <a:ext cx="543946" cy="772151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0" y="5905331"/>
            <a:ext cx="1901425" cy="952668"/>
          </a:xfrm>
          <a:custGeom>
            <a:avLst/>
            <a:gdLst/>
            <a:ahLst/>
            <a:cxnLst/>
            <a:rect l="l" t="t" r="r" b="b"/>
            <a:pathLst>
              <a:path w="2048" h="1024" extrusionOk="0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B71B1C"/>
              </a:gs>
              <a:gs pos="10000">
                <a:srgbClr val="B71B1C"/>
              </a:gs>
              <a:gs pos="100000">
                <a:srgbClr val="ED524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 Condensed" panose="02000000000000000000"/>
              <a:ea typeface="Roboto Condensed" panose="02000000000000000000"/>
              <a:cs typeface="Roboto Condensed" panose="02000000000000000000"/>
              <a:sym typeface="Roboto Condensed" panose="02000000000000000000"/>
            </a:endParaRPr>
          </a:p>
        </p:txBody>
      </p:sp>
      <p:pic>
        <p:nvPicPr>
          <p:cNvPr id="44" name="Google Shape;44;p3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0169807" y="5866956"/>
            <a:ext cx="1778000" cy="803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451730" y="244174"/>
            <a:ext cx="3395148" cy="1442867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/>
          <a:stretch/>
        </p:blipFill>
        <p:spPr>
          <a:xfrm>
            <a:off x="959767" y="3827036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D370FB6-7031-0A4B-838F-03DBE8CD8D6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83130" y="2329344"/>
            <a:ext cx="2199311" cy="219931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D1946227-18C8-F84C-AE02-FA328FFAD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90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 Condensed" panose="02000000000000000000"/>
              <a:buNone/>
              <a:defRPr sz="4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A8A8A"/>
                </a:solidFill>
                <a:latin typeface="Roboto Condensed" panose="02000000000000000000"/>
                <a:ea typeface="Roboto Condensed" panose="02000000000000000000"/>
                <a:cs typeface="Roboto Condensed" panose="02000000000000000000"/>
                <a:sym typeface="Roboto Condensed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47E4E-823D-614A-B4B7-AC128FF38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242" y="1103123"/>
            <a:ext cx="8297907" cy="2578780"/>
          </a:xfrm>
        </p:spPr>
        <p:txBody>
          <a:bodyPr/>
          <a:lstStyle/>
          <a:p>
            <a:r>
              <a:rPr lang="en-US" sz="4400" b="0" dirty="0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LAB-13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Study and configure Network</a:t>
            </a:r>
            <a:br>
              <a:rPr lang="en-US" sz="4400" dirty="0"/>
            </a:br>
            <a:r>
              <a:rPr lang="en-US" sz="4400" dirty="0"/>
              <a:t>Address Translation(NAT).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BD4442-5C83-5F4A-8AEA-1614164C87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maulik.trivedi@darshan.ac.in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07D4B6-0B64-6A44-BA9C-B9BF69DC2E1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+91-9998265805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E4F568A-30BE-2049-9622-DC2108A44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Computer Engineering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1A5B73-F4FC-AC48-953E-993670B73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Prof. Maulik D Trivedi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BE456-33E7-B748-B5B3-F501CA8044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b="1" dirty="0"/>
              <a:t>Computer Networks </a:t>
            </a:r>
            <a:r>
              <a:rPr lang="en-US" dirty="0"/>
              <a:t>(CN)</a:t>
            </a:r>
          </a:p>
          <a:p>
            <a:pPr>
              <a:spcAft>
                <a:spcPts val="600"/>
              </a:spcAft>
            </a:pPr>
            <a:r>
              <a:rPr lang="en-US" dirty="0"/>
              <a:t>DU #2301CS501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72831386-25BD-CB4A-8E69-CCA21F5039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5012AC-5C43-CE81-D61F-5FA20BB1D897}"/>
              </a:ext>
            </a:extLst>
          </p:cNvPr>
          <p:cNvSpPr txBox="1"/>
          <p:nvPr/>
        </p:nvSpPr>
        <p:spPr>
          <a:xfrm>
            <a:off x="6096000" y="6460218"/>
            <a:ext cx="61001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Disclaimer: The images used in this presentation are sourced solely for educational and nonprofit purposes. The author of this presentation asserts no ownership or copyright claims over them."</a:t>
            </a:r>
          </a:p>
        </p:txBody>
      </p:sp>
    </p:spTree>
    <p:extLst>
      <p:ext uri="{BB962C8B-B14F-4D97-AF65-F5344CB8AC3E}">
        <p14:creationId xmlns:p14="http://schemas.microsoft.com/office/powerpoint/2010/main" val="235490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13D8A-7402-CD00-7343-CE720EB55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NAT?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C9E81-AACD-E01D-E204-75D2DD7ED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Network Address Translation (NAT)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NAT </a:t>
            </a:r>
            <a:r>
              <a:rPr lang="en-IN" b="1" dirty="0">
                <a:solidFill>
                  <a:srgbClr val="FF0000"/>
                </a:solidFill>
              </a:rPr>
              <a:t>translates IP addresses as packets </a:t>
            </a:r>
            <a:r>
              <a:rPr lang="en-IN" dirty="0"/>
              <a:t>cross between network boundaries.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Private IPv4 addresses are normally used inside an organization.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NAT allows these hosts to communicate with external/public networks.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Translation is performed by a </a:t>
            </a:r>
            <a:r>
              <a:rPr lang="en-IN" b="1" dirty="0">
                <a:solidFill>
                  <a:srgbClr val="FF0000"/>
                </a:solidFill>
              </a:rPr>
              <a:t>NAT-enabled router/firewall</a:t>
            </a:r>
            <a:r>
              <a:rPr lang="en-IN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It reduces the requirement for globally routable IPv4 addresses.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112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C2BA-548F-6133-3359-3CB3081D7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Main NAT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A912-8025-7046-7051-C93BEEAA8E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Static </a:t>
            </a:r>
            <a:r>
              <a:rPr lang="en-IN" dirty="0">
                <a:solidFill>
                  <a:srgbClr val="FF0000"/>
                </a:solidFill>
              </a:rPr>
              <a:t>NAT</a:t>
            </a:r>
            <a:r>
              <a:rPr lang="en-IN" dirty="0"/>
              <a:t> </a:t>
            </a:r>
            <a:r>
              <a:rPr lang="en-IN" dirty="0">
                <a:solidFill>
                  <a:srgbClr val="FF0000"/>
                </a:solidFill>
              </a:rPr>
              <a:t>creates a persistent one-to-one mapping</a:t>
            </a:r>
            <a:r>
              <a:rPr lang="en-IN" dirty="0"/>
              <a:t>, while </a:t>
            </a:r>
            <a:r>
              <a:rPr lang="en-IN" dirty="0">
                <a:solidFill>
                  <a:srgbClr val="FF0000"/>
                </a:solidFill>
              </a:rPr>
              <a:t>PAT allows multiple inside hosts </a:t>
            </a:r>
            <a:r>
              <a:rPr lang="en-IN" dirty="0"/>
              <a:t>to share a public address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C5E764-EC33-7509-F8D6-CA61CD3C1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978159"/>
              </p:ext>
            </p:extLst>
          </p:nvPr>
        </p:nvGraphicFramePr>
        <p:xfrm>
          <a:off x="1521326" y="1454485"/>
          <a:ext cx="9149348" cy="2204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674">
                  <a:extLst>
                    <a:ext uri="{9D8B030D-6E8A-4147-A177-3AD203B41FA5}">
                      <a16:colId xmlns:a16="http://schemas.microsoft.com/office/drawing/2014/main" val="1051564986"/>
                    </a:ext>
                  </a:extLst>
                </a:gridCol>
                <a:gridCol w="4574674">
                  <a:extLst>
                    <a:ext uri="{9D8B030D-6E8A-4147-A177-3AD203B41FA5}">
                      <a16:colId xmlns:a16="http://schemas.microsoft.com/office/drawing/2014/main" val="1615859358"/>
                    </a:ext>
                  </a:extLst>
                </a:gridCol>
              </a:tblGrid>
              <a:tr h="45558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346037"/>
                  </a:ext>
                </a:extLst>
              </a:tr>
              <a:tr h="5542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Static 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 private IP ↔ 1 public IP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363918"/>
                  </a:ext>
                </a:extLst>
              </a:tr>
              <a:tr h="5542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Dynamic NAT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Private IP ↔ address from public pool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923673"/>
                  </a:ext>
                </a:extLst>
              </a:tr>
              <a:tr h="55429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Many private IPs ↔ one/few public IPs using ports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0178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479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44D6-A410-B5C0-512A-1150A63F2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 Terminology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10D48E7-E238-EC7E-1E95-66A7A2176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17500" y="976497"/>
            <a:ext cx="11557000" cy="490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0002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3F070-0053-9025-156C-67074B70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NAT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9B456-BB22-A080-5D96-9F1CC4846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Static </a:t>
            </a:r>
            <a:r>
              <a:rPr lang="en-IN" dirty="0">
                <a:solidFill>
                  <a:srgbClr val="FF0000"/>
                </a:solidFill>
              </a:rPr>
              <a:t>NAT creates a </a:t>
            </a:r>
            <a:r>
              <a:rPr lang="en-IN" b="1" dirty="0">
                <a:solidFill>
                  <a:srgbClr val="FF0000"/>
                </a:solidFill>
              </a:rPr>
              <a:t>permanent one-to-one mapping</a:t>
            </a:r>
            <a:r>
              <a:rPr lang="en-IN" dirty="0"/>
              <a:t> between a private and public IP address.</a:t>
            </a:r>
            <a:endParaRPr lang="en-US" dirty="0"/>
          </a:p>
          <a:p>
            <a:r>
              <a:rPr lang="en-US" dirty="0"/>
              <a:t>Our Mappings:</a:t>
            </a:r>
          </a:p>
          <a:p>
            <a:pPr lvl="1"/>
            <a:r>
              <a:rPr lang="en-US" dirty="0"/>
              <a:t>PC1   10.1.1.1  →  37.3.1.1</a:t>
            </a:r>
          </a:p>
          <a:p>
            <a:pPr lvl="1"/>
            <a:r>
              <a:rPr lang="en-US" dirty="0"/>
              <a:t>PC2   10.1.1.2  →  37.3.1.2</a:t>
            </a:r>
          </a:p>
          <a:p>
            <a:pPr lvl="1"/>
            <a:r>
              <a:rPr lang="en-US" dirty="0"/>
              <a:t>PC3   10.1.1.3  →  37.3.1.3</a:t>
            </a:r>
          </a:p>
          <a:p>
            <a:endParaRPr lang="en-IN" b="1" dirty="0"/>
          </a:p>
          <a:p>
            <a:r>
              <a:rPr lang="en-IN" b="1" dirty="0"/>
              <a:t>Characteristics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Fixed translation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One private IP requires one public IP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Suitable for servers requiring a permanent public address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Easy to predict and troubleshoot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Packet Flow: </a:t>
            </a:r>
          </a:p>
          <a:p>
            <a:pPr lvl="1"/>
            <a:r>
              <a:rPr lang="en-IN" dirty="0"/>
              <a:t>10.1.1.1 → NAT Router → 37.3.1.1 → 8.8.8.8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826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CE552-663B-E0B9-9926-86888F3C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NAT 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4E5F-B44B-23AF-FD0A-2085EBD45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Cisco IOS Configuration</a:t>
            </a:r>
          </a:p>
          <a:p>
            <a:r>
              <a:rPr lang="en-IN" dirty="0"/>
              <a:t>For PC1:</a:t>
            </a:r>
          </a:p>
          <a:p>
            <a:pPr lvl="1"/>
            <a:r>
              <a:rPr lang="en-IN" dirty="0"/>
              <a:t>Router(config)#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source static 10.1.1.1 37.3.1.1</a:t>
            </a:r>
          </a:p>
          <a:p>
            <a:r>
              <a:rPr lang="en-IN" dirty="0"/>
              <a:t>For PC2:</a:t>
            </a:r>
          </a:p>
          <a:p>
            <a:pPr lvl="1"/>
            <a:r>
              <a:rPr lang="en-IN" dirty="0"/>
              <a:t>Router(config)#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source static 10.1.1.2 37.3.1.2</a:t>
            </a:r>
          </a:p>
          <a:p>
            <a:r>
              <a:rPr lang="en-IN" dirty="0"/>
              <a:t>For PC3:</a:t>
            </a:r>
          </a:p>
          <a:p>
            <a:pPr lvl="1"/>
            <a:r>
              <a:rPr lang="en-IN" dirty="0"/>
              <a:t>Router(config)#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source static 10.1.1.3 37.3.1.3</a:t>
            </a:r>
          </a:p>
          <a:p>
            <a:pPr lvl="1"/>
            <a:endParaRPr lang="en-IN" dirty="0"/>
          </a:p>
          <a:p>
            <a:r>
              <a:rPr lang="en-IN" b="1" dirty="0"/>
              <a:t>Configure NAT Interfaces</a:t>
            </a:r>
          </a:p>
          <a:p>
            <a:pPr rtl="0"/>
            <a:r>
              <a:rPr lang="en-IN" dirty="0"/>
              <a:t>Router(config)# </a:t>
            </a:r>
            <a:r>
              <a:rPr lang="en-IN" dirty="0">
                <a:solidFill>
                  <a:srgbClr val="FF0000"/>
                </a:solidFill>
              </a:rPr>
              <a:t>interface g0/0 </a:t>
            </a:r>
          </a:p>
          <a:p>
            <a:pPr rtl="0"/>
            <a:r>
              <a:rPr lang="en-IN" dirty="0"/>
              <a:t>Router(config-if)#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</a:t>
            </a:r>
          </a:p>
          <a:p>
            <a:pPr rtl="0"/>
            <a:r>
              <a:rPr lang="en-IN" dirty="0"/>
              <a:t>Router(config)# </a:t>
            </a:r>
            <a:r>
              <a:rPr lang="en-IN" dirty="0">
                <a:solidFill>
                  <a:srgbClr val="FF0000"/>
                </a:solidFill>
              </a:rPr>
              <a:t>interface g0/1 </a:t>
            </a:r>
          </a:p>
          <a:p>
            <a:pPr rtl="0"/>
            <a:r>
              <a:rPr lang="en-IN" dirty="0"/>
              <a:t>Router(config-if)#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outside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05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97E8-7A3B-BB72-615F-449870D1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Port Address Translation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2CDB7-D14B-90A2-5657-BA377BA6D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PAT / NAT Overload</a:t>
            </a:r>
          </a:p>
          <a:p>
            <a:r>
              <a:rPr lang="en-IN" dirty="0"/>
              <a:t>PAT allows </a:t>
            </a:r>
            <a:r>
              <a:rPr lang="en-IN" b="1" dirty="0">
                <a:solidFill>
                  <a:srgbClr val="FF0000"/>
                </a:solidFill>
              </a:rPr>
              <a:t>multiple private devices to share a single public IP address</a:t>
            </a:r>
            <a:r>
              <a:rPr lang="en-IN" dirty="0">
                <a:solidFill>
                  <a:srgbClr val="FF0000"/>
                </a:solidFill>
              </a:rPr>
              <a:t>.</a:t>
            </a:r>
          </a:p>
          <a:p>
            <a:r>
              <a:rPr lang="en-IN" dirty="0"/>
              <a:t>Unlike Static NAT, </a:t>
            </a:r>
            <a:r>
              <a:rPr lang="en-IN" dirty="0">
                <a:solidFill>
                  <a:srgbClr val="FF0000"/>
                </a:solidFill>
              </a:rPr>
              <a:t>PAT also translates the </a:t>
            </a:r>
            <a:r>
              <a:rPr lang="en-IN" b="1" dirty="0">
                <a:solidFill>
                  <a:srgbClr val="FF0000"/>
                </a:solidFill>
              </a:rPr>
              <a:t>TCP/UDP port number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/>
              <a:t>to distinguish different connections.</a:t>
            </a:r>
          </a:p>
          <a:p>
            <a:r>
              <a:rPr lang="en-IN" dirty="0"/>
              <a:t>The router creates different port mappings:</a:t>
            </a:r>
          </a:p>
          <a:p>
            <a:pPr lvl="1"/>
            <a:r>
              <a:rPr lang="en-US" dirty="0"/>
              <a:t>10.1.1.1:5000 → 37.3.1.62:30001</a:t>
            </a:r>
          </a:p>
          <a:p>
            <a:pPr lvl="1"/>
            <a:r>
              <a:rPr lang="en-US" dirty="0"/>
              <a:t>10.1.1.2:5001 → 37.3.1.62:30002</a:t>
            </a:r>
          </a:p>
          <a:p>
            <a:pPr lvl="1"/>
            <a:r>
              <a:rPr lang="en-US" dirty="0"/>
              <a:t>10.1.1.3:5002 → 37.3.1.62:30003</a:t>
            </a:r>
          </a:p>
          <a:p>
            <a:r>
              <a:rPr lang="en-IN" dirty="0"/>
              <a:t>Advantage</a:t>
            </a:r>
            <a:endParaRPr lang="en-US" dirty="0"/>
          </a:p>
          <a:p>
            <a:pPr lvl="1"/>
            <a:r>
              <a:rPr lang="en-IN" b="1" dirty="0"/>
              <a:t>Many private hosts → One public IP</a:t>
            </a:r>
            <a:endParaRPr lang="en-IN" dirty="0"/>
          </a:p>
          <a:p>
            <a:pPr lvl="1"/>
            <a:r>
              <a:rPr lang="en-IN" dirty="0"/>
              <a:t>This makes PAT much more address-efficient than Static NAT.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7822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FC1EC-E2A3-DEFD-38FE-9BD74CDE4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Port Address Translation Cont.</a:t>
            </a:r>
          </a:p>
        </p:txBody>
      </p:sp>
      <p:pic>
        <p:nvPicPr>
          <p:cNvPr id="2050" name="Picture 2" descr="NAT Overloading aka Port Address Translation (PAT) | Cisco Central">
            <a:extLst>
              <a:ext uri="{FF2B5EF4-FFF2-40B4-BE49-F238E27FC236}">
                <a16:creationId xmlns:a16="http://schemas.microsoft.com/office/drawing/2014/main" id="{6921412E-C70F-BB71-63D3-D71839C2FF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249" y="863600"/>
            <a:ext cx="8833503" cy="559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038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B5250-A6F2-373E-637A-235ACDA06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 Configuration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7E1CF7-B9B7-3714-3571-DFFAD2613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1. Define the inside network</a:t>
            </a:r>
          </a:p>
          <a:p>
            <a:pPr lvl="1"/>
            <a:r>
              <a:rPr lang="en-IN" dirty="0"/>
              <a:t>Router(config)# </a:t>
            </a:r>
            <a:r>
              <a:rPr lang="en-IN" dirty="0">
                <a:solidFill>
                  <a:srgbClr val="FF0000"/>
                </a:solidFill>
              </a:rPr>
              <a:t>access-list 1 permit 10.1.1.0 0.0.0.255</a:t>
            </a:r>
          </a:p>
          <a:p>
            <a:endParaRPr lang="en-IN" b="1" dirty="0"/>
          </a:p>
          <a:p>
            <a:r>
              <a:rPr lang="en-IN" b="1" dirty="0"/>
              <a:t>2. Configure PAT</a:t>
            </a:r>
          </a:p>
          <a:p>
            <a:r>
              <a:rPr lang="en-IN" dirty="0"/>
              <a:t>Using the router's outside interface:</a:t>
            </a:r>
          </a:p>
          <a:p>
            <a:pPr lvl="1"/>
            <a:r>
              <a:rPr lang="en-IN" dirty="0"/>
              <a:t>Router(config)#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source list 1 interface g0/1 overload</a:t>
            </a:r>
          </a:p>
          <a:p>
            <a:endParaRPr lang="en-IN" b="1" dirty="0"/>
          </a:p>
          <a:p>
            <a:r>
              <a:rPr lang="en-IN" b="1" dirty="0"/>
              <a:t>3. Mark NAT interfaces</a:t>
            </a:r>
          </a:p>
          <a:p>
            <a:pPr lvl="1"/>
            <a:r>
              <a:rPr lang="en-IN" dirty="0"/>
              <a:t>Router(config)# </a:t>
            </a:r>
            <a:r>
              <a:rPr lang="en-IN" dirty="0">
                <a:solidFill>
                  <a:srgbClr val="FF0000"/>
                </a:solidFill>
              </a:rPr>
              <a:t>interface g0/0 </a:t>
            </a:r>
          </a:p>
          <a:p>
            <a:pPr lvl="1"/>
            <a:r>
              <a:rPr lang="en-IN" dirty="0"/>
              <a:t>Router(config-if)#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inside </a:t>
            </a:r>
          </a:p>
          <a:p>
            <a:pPr lvl="1"/>
            <a:r>
              <a:rPr lang="en-IN" dirty="0"/>
              <a:t>Router(config)# </a:t>
            </a:r>
            <a:r>
              <a:rPr lang="en-IN" dirty="0">
                <a:solidFill>
                  <a:srgbClr val="FF0000"/>
                </a:solidFill>
              </a:rPr>
              <a:t>interface g0/1 </a:t>
            </a:r>
          </a:p>
          <a:p>
            <a:pPr lvl="1"/>
            <a:r>
              <a:rPr lang="en-IN" dirty="0"/>
              <a:t>Router(config-if)#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outside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525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DFAFB-84B0-1723-619C-F356EB0CB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Verification &amp; Testing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496F-534E-5291-B805-307E61F31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Verify NAT Operation</a:t>
            </a:r>
          </a:p>
          <a:p>
            <a:r>
              <a:rPr lang="en-IN" b="1" dirty="0"/>
              <a:t>Check Translation Table</a:t>
            </a:r>
          </a:p>
          <a:p>
            <a:pPr lvl="1"/>
            <a:r>
              <a:rPr lang="en-IN" dirty="0"/>
              <a:t>Router# </a:t>
            </a:r>
            <a:r>
              <a:rPr lang="en-IN" dirty="0">
                <a:solidFill>
                  <a:srgbClr val="FF0000"/>
                </a:solidFill>
              </a:rPr>
              <a:t>show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translations</a:t>
            </a:r>
          </a:p>
          <a:p>
            <a:r>
              <a:rPr lang="en-IN" b="1" dirty="0"/>
              <a:t>Check NAT Statistics</a:t>
            </a:r>
          </a:p>
          <a:p>
            <a:pPr lvl="1"/>
            <a:r>
              <a:rPr lang="en-IN" dirty="0"/>
              <a:t>Router# </a:t>
            </a:r>
            <a:r>
              <a:rPr lang="en-IN" dirty="0">
                <a:solidFill>
                  <a:srgbClr val="FF0000"/>
                </a:solidFill>
              </a:rPr>
              <a:t>show </a:t>
            </a:r>
            <a:r>
              <a:rPr lang="en-IN" dirty="0" err="1">
                <a:solidFill>
                  <a:srgbClr val="FF0000"/>
                </a:solidFill>
              </a:rPr>
              <a:t>ip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dirty="0" err="1">
                <a:solidFill>
                  <a:srgbClr val="FF0000"/>
                </a:solidFill>
              </a:rPr>
              <a:t>nat</a:t>
            </a:r>
            <a:r>
              <a:rPr lang="en-IN" dirty="0">
                <a:solidFill>
                  <a:srgbClr val="FF0000"/>
                </a:solidFill>
              </a:rPr>
              <a:t> statistics</a:t>
            </a:r>
          </a:p>
          <a:p>
            <a:r>
              <a:rPr lang="en-IN" b="1" dirty="0"/>
              <a:t>Check Configuration</a:t>
            </a:r>
          </a:p>
          <a:p>
            <a:pPr lvl="1"/>
            <a:r>
              <a:rPr lang="en-IN" dirty="0"/>
              <a:t>Router# </a:t>
            </a:r>
            <a:r>
              <a:rPr lang="en-IN" dirty="0">
                <a:solidFill>
                  <a:srgbClr val="FF0000"/>
                </a:solidFill>
              </a:rPr>
              <a:t>show running-config</a:t>
            </a:r>
          </a:p>
          <a:p>
            <a:pPr lvl="1"/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48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2D7A1-1DF3-C2BB-DEF0-074B9918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Static NAT vs PAT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A2806-5965-A94E-5107-FBCDA2EC34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030684"/>
              </p:ext>
            </p:extLst>
          </p:nvPr>
        </p:nvGraphicFramePr>
        <p:xfrm>
          <a:off x="131763" y="1216298"/>
          <a:ext cx="1192847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6158">
                  <a:extLst>
                    <a:ext uri="{9D8B030D-6E8A-4147-A177-3AD203B41FA5}">
                      <a16:colId xmlns:a16="http://schemas.microsoft.com/office/drawing/2014/main" val="798425677"/>
                    </a:ext>
                  </a:extLst>
                </a:gridCol>
                <a:gridCol w="3976158">
                  <a:extLst>
                    <a:ext uri="{9D8B030D-6E8A-4147-A177-3AD203B41FA5}">
                      <a16:colId xmlns:a16="http://schemas.microsoft.com/office/drawing/2014/main" val="3679944234"/>
                    </a:ext>
                  </a:extLst>
                </a:gridCol>
                <a:gridCol w="3976158">
                  <a:extLst>
                    <a:ext uri="{9D8B030D-6E8A-4147-A177-3AD203B41FA5}">
                      <a16:colId xmlns:a16="http://schemas.microsoft.com/office/drawing/2014/main" val="192411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Feature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Static NAT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PAT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406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Mapping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 : 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Many : 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002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Public IP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Dedicated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Shared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64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Port Translation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No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Yes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9890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Mapping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Permanent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Dynamic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656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Efficiency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Lower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Higher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2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Typical Use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Public servers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Client Internet access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063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Example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10.1.1.1 → 37.3.1.1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dirty="0"/>
                        <a:t>10.1.1.1:5000 → 37.3.1.62:30001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27618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26EBE2-555B-6527-647A-50CF97C4BD1C}"/>
              </a:ext>
            </a:extLst>
          </p:cNvPr>
          <p:cNvSpPr txBox="1"/>
          <p:nvPr/>
        </p:nvSpPr>
        <p:spPr>
          <a:xfrm>
            <a:off x="2755221" y="4426505"/>
            <a:ext cx="7618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(Static NAT identifies a host by IP &amp; PAT identifies a connection using IP + port)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46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D3064"/>
              </a:buClr>
              <a:buSzPts val="6000"/>
              <a:buFont typeface="Roboto Condensed" panose="02000000000000000000"/>
              <a:buNone/>
            </a:pPr>
            <a:r>
              <a:rPr lang="en-US" sz="6000" b="0"/>
              <a:t>Thank </a:t>
            </a:r>
            <a:r>
              <a:rPr lang="en-US" b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deo Lecture 16x9 Light Template">
  <a:themeElements>
    <a:clrScheme name="Jay">
      <a:dk1>
        <a:srgbClr val="212121"/>
      </a:dk1>
      <a:lt1>
        <a:srgbClr val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573</Words>
  <Application>Microsoft Macintosh PowerPoint</Application>
  <PresentationFormat>Widescreen</PresentationFormat>
  <Paragraphs>123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Roboto Condensed</vt:lpstr>
      <vt:lpstr>Arial</vt:lpstr>
      <vt:lpstr>Noto Sans Symbols</vt:lpstr>
      <vt:lpstr>Roboto Condensed Light</vt:lpstr>
      <vt:lpstr>Calibri</vt:lpstr>
      <vt:lpstr>Wingdings 3</vt:lpstr>
      <vt:lpstr>Wingdings</vt:lpstr>
      <vt:lpstr>VIdeo Lecture 16x9 Light Template</vt:lpstr>
      <vt:lpstr>LAB-13  Study and configure Network Address Translation(NAT).</vt:lpstr>
      <vt:lpstr>What is NAT?</vt:lpstr>
      <vt:lpstr>Main NAT Types</vt:lpstr>
      <vt:lpstr>NAT Terminology</vt:lpstr>
      <vt:lpstr>Static NAT</vt:lpstr>
      <vt:lpstr>Static NAT Configuration</vt:lpstr>
      <vt:lpstr>Port Address Translation</vt:lpstr>
      <vt:lpstr>Port Address Translation Cont.</vt:lpstr>
      <vt:lpstr>PAT Configuration</vt:lpstr>
      <vt:lpstr>Verification &amp; Testing</vt:lpstr>
      <vt:lpstr>Static NAT vs PAT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Unit-3  Transmission Media</dc:title>
  <dc:creator>dolly</dc:creator>
  <cp:lastModifiedBy>Tirth</cp:lastModifiedBy>
  <cp:revision>138</cp:revision>
  <dcterms:created xsi:type="dcterms:W3CDTF">2025-05-27T12:46:57Z</dcterms:created>
  <dcterms:modified xsi:type="dcterms:W3CDTF">2026-09-01T03:37:54Z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648D3DD2B8B9146F4C313568FA38182F_42</vt:lpwstr>
  </property>
  <property fmtid="{D5CDD505-2E9C-101B-9397-08002B2CF9AE}" pid="3" name="KSOProductBuildVer">
    <vt:lpwstr>1033-6.11.0.8615</vt:lpwstr>
  </property>
</Properties>
</file>