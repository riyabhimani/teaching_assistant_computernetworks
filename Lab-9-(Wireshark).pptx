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314" r:id="rId2"/>
    <p:sldId id="265" r:id="rId3"/>
    <p:sldId id="315" r:id="rId4"/>
    <p:sldId id="328" r:id="rId5"/>
    <p:sldId id="316" r:id="rId6"/>
    <p:sldId id="317" r:id="rId7"/>
    <p:sldId id="318" r:id="rId8"/>
    <p:sldId id="329" r:id="rId9"/>
    <p:sldId id="330" r:id="rId10"/>
    <p:sldId id="331" r:id="rId11"/>
    <p:sldId id="332" r:id="rId12"/>
    <p:sldId id="333" r:id="rId13"/>
    <p:sldId id="334" r:id="rId14"/>
    <p:sldId id="275" r:id="rId15"/>
  </p:sldIdLst>
  <p:sldSz cx="12192000" cy="6858000"/>
  <p:notesSz cx="6954838" cy="93091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Noto Sans Symbols" pitchFamily="2" charset="0"/>
      <p:regular r:id="rId21"/>
      <p:bold r:id="rId22"/>
    </p:embeddedFont>
    <p:embeddedFont>
      <p:font typeface="Roboto Condensed" panose="020F0502020204030204" pitchFamily="34" charset="0"/>
      <p:regular r:id="rId23"/>
      <p:bold r:id="rId24"/>
      <p:italic r:id="rId25"/>
      <p:boldItalic r:id="rId26"/>
    </p:embeddedFont>
    <p:embeddedFont>
      <p:font typeface="Roboto Condensed Light" panose="020F0302020204030204" pitchFamily="34" charset="0"/>
      <p:regular r:id="rId27"/>
      <p:bold r:id="rId28"/>
      <p:italic r:id="rId29"/>
      <p:boldItalic r:id="rId30"/>
    </p:embeddedFont>
    <p:embeddedFont>
      <p:font typeface="Wingdings 3" pitchFamily="2" charset="2"/>
      <p:regular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modifyVerifier cryptProviderType="rsaAES" cryptAlgorithmClass="hash" cryptAlgorithmType="typeAny" cryptAlgorithmSid="14" spinCount="100000" saltData="TqErnuLMNBhJYmUKNX9bAg==" hashData="8368ghn7Ps1MmymWhpizav8Caetg/D1LqWY6XAKt0FbsX6GHLa/+AF8/0hUJ3kv6I8j9AC3IeoiSRzdQ9CN7tA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4742"/>
    <a:srgbClr val="E6BA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76"/>
    <p:restoredTop sz="95794"/>
  </p:normalViewPr>
  <p:slideViewPr>
    <p:cSldViewPr snapToGrid="0">
      <p:cViewPr varScale="1">
        <p:scale>
          <a:sx n="106" d="100"/>
          <a:sy n="106" d="100"/>
        </p:scale>
        <p:origin x="6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13763" cy="46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39466" y="0"/>
            <a:ext cx="3013763" cy="46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63638"/>
            <a:ext cx="5583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42030"/>
            <a:ext cx="3013763" cy="467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microsoft.com/office/2007/relationships/hdphoto" Target="../media/hdphoto1.wdp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tif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/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/>
          <p:cNvPicPr preferRelativeResize="0"/>
          <p:nvPr userDrawn="1"/>
        </p:nvPicPr>
        <p:blipFill rotWithShape="1">
          <a:blip r:embed="rId3"/>
          <a:srcRect t="86739" r="1768" b="3535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430" indent="-265430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Google Shape;58;p4"/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‹#›</a:t>
            </a:fld>
            <a:endParaRPr sz="1200" b="1">
              <a:solidFill>
                <a:srgbClr val="363636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sp>
        <p:nvSpPr>
          <p:cNvPr id="6" name="Date Placeholder 1"/>
          <p:cNvSpPr txBox="1"/>
          <p:nvPr userDrawn="1"/>
        </p:nvSpPr>
        <p:spPr>
          <a:xfrm>
            <a:off x="838200" y="6602875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itchFamily="2" charset="0"/>
              <a:ea typeface="Roboto Condensed Light" pitchFamily="2" charset="0"/>
            </a:endParaRPr>
          </a:p>
        </p:txBody>
      </p:sp>
      <p:sp>
        <p:nvSpPr>
          <p:cNvPr id="8" name="Google Shape;128;p8"/>
          <p:cNvSpPr txBox="1"/>
          <p:nvPr userDrawn="1"/>
        </p:nvSpPr>
        <p:spPr>
          <a:xfrm>
            <a:off x="4038600" y="6604000"/>
            <a:ext cx="4761058" cy="25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Roboto Condensed Light"/>
              <a:buNone/>
            </a:pP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</a:t>
            </a:r>
            <a:r>
              <a:rPr lang="en-US" sz="1200" dirty="0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 2104CS301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(CN)   </a:t>
            </a:r>
            <a:r>
              <a:rPr lang="en-US" sz="1200" dirty="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LAB 2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/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/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/>
          <p:cNvPicPr preferRelativeResize="0"/>
          <p:nvPr userDrawn="1"/>
        </p:nvPicPr>
        <p:blipFill rotWithShape="1">
          <a:blip r:embed="rId3"/>
          <a:srcRect t="86739" r="1768" b="3535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430" indent="-265430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1"/>
          <p:cNvSpPr txBox="1"/>
          <p:nvPr userDrawn="1"/>
        </p:nvSpPr>
        <p:spPr>
          <a:xfrm>
            <a:off x="838200" y="6602875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itchFamily="2" charset="0"/>
              <a:ea typeface="Roboto Condensed Light" pitchFamily="2" charset="0"/>
            </a:endParaRPr>
          </a:p>
        </p:txBody>
      </p:sp>
      <p:sp>
        <p:nvSpPr>
          <p:cNvPr id="4" name="Google Shape;128;p8"/>
          <p:cNvSpPr txBox="1"/>
          <p:nvPr userDrawn="1"/>
        </p:nvSpPr>
        <p:spPr>
          <a:xfrm>
            <a:off x="4038600" y="6604000"/>
            <a:ext cx="4761058" cy="25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Roboto Condensed Light"/>
              <a:buNone/>
            </a:pP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</a:t>
            </a:r>
            <a:r>
              <a:rPr lang="en-US" sz="1200" dirty="0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 2301CS501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(CN)   </a:t>
            </a:r>
            <a:r>
              <a:rPr lang="en-US" sz="1200" dirty="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LAB 2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- Logo on BL">
  <p:cSld name="Title and Content - Logo on BL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sp>
        <p:nvSpPr>
          <p:cNvPr id="111" name="Google Shape;111;p8"/>
          <p:cNvSpPr txBox="1"/>
          <p:nvPr/>
        </p:nvSpPr>
        <p:spPr>
          <a:xfrm>
            <a:off x="8382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Prof. Jay R Dhamsaniya</a:t>
            </a:r>
            <a:endParaRPr sz="1200">
              <a:solidFill>
                <a:srgbClr val="363636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112" name="Google Shape;112;p8"/>
          <p:cNvSpPr txBox="1"/>
          <p:nvPr/>
        </p:nvSpPr>
        <p:spPr>
          <a:xfrm>
            <a:off x="4038600" y="6604000"/>
            <a:ext cx="41148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#3130006 (PS)   </a:t>
            </a:r>
            <a:r>
              <a:rPr lang="en-US" sz="120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Unit 1 – Basic Probability</a:t>
            </a:r>
          </a:p>
        </p:txBody>
      </p:sp>
      <p:sp>
        <p:nvSpPr>
          <p:cNvPr id="113" name="Google Shape;113;p8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‹#›</a:t>
            </a:fld>
            <a:endParaRPr sz="1200" b="1">
              <a:solidFill>
                <a:srgbClr val="363636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pic>
        <p:nvPicPr>
          <p:cNvPr id="114" name="Google Shape;114;p8"/>
          <p:cNvPicPr preferRelativeResize="0"/>
          <p:nvPr/>
        </p:nvPicPr>
        <p:blipFill rotWithShape="1">
          <a:blip r:embed="rId2"/>
          <a:srcRect t="86739" r="1768" b="3534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8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 panose="02000000000000000000"/>
              <a:buNone/>
              <a:defRPr sz="3400" b="1">
                <a:solidFill>
                  <a:srgbClr val="363636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8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defRPr sz="2400">
                <a:solidFill>
                  <a:schemeClr val="dk1"/>
                </a:solidFill>
              </a:defRPr>
            </a:lvl1pPr>
            <a:lvl2pPr marL="914400" lvl="1" indent="-355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  <a:defRPr sz="2000">
                <a:solidFill>
                  <a:schemeClr val="dk1"/>
                </a:solidFill>
              </a:defRPr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marL="1828800" lvl="3" indent="-3302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cxnSp>
        <p:nvCxnSpPr>
          <p:cNvPr id="117" name="Google Shape;117;p8"/>
          <p:cNvCxnSpPr/>
          <p:nvPr/>
        </p:nvCxnSpPr>
        <p:spPr>
          <a:xfrm>
            <a:off x="0" y="71120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8" name="Google Shape;118;p8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9" name="Google Shape;119;p8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sp>
        <p:nvSpPr>
          <p:cNvPr id="121" name="Google Shape;121;p8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‹#›</a:t>
            </a:fld>
            <a:endParaRPr sz="1200" b="1">
              <a:solidFill>
                <a:srgbClr val="363636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pic>
        <p:nvPicPr>
          <p:cNvPr id="122" name="Google Shape;122;p8"/>
          <p:cNvPicPr preferRelativeResize="0"/>
          <p:nvPr/>
        </p:nvPicPr>
        <p:blipFill rotWithShape="1">
          <a:blip r:embed="rId2"/>
          <a:srcRect t="86739" r="1768" b="3534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8"/>
          <p:cNvCxnSpPr/>
          <p:nvPr/>
        </p:nvCxnSpPr>
        <p:spPr>
          <a:xfrm>
            <a:off x="0" y="71120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4" name="Google Shape;124;p8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25" name="Google Shape;125;p8"/>
          <p:cNvGrpSpPr/>
          <p:nvPr/>
        </p:nvGrpSpPr>
        <p:grpSpPr>
          <a:xfrm>
            <a:off x="218352" y="5580556"/>
            <a:ext cx="2554142" cy="828000"/>
            <a:chOff x="131178" y="5775961"/>
            <a:chExt cx="2530238" cy="820250"/>
          </a:xfrm>
        </p:grpSpPr>
        <p:pic>
          <p:nvPicPr>
            <p:cNvPr id="126" name="Google Shape;126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752314" y="5775961"/>
              <a:ext cx="1815353" cy="820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Google Shape;127;p8"/>
            <p:cNvSpPr/>
            <p:nvPr/>
          </p:nvSpPr>
          <p:spPr>
            <a:xfrm>
              <a:off x="131178" y="5775961"/>
              <a:ext cx="2530238" cy="820250"/>
            </a:xfrm>
            <a:prstGeom prst="rect">
              <a:avLst/>
            </a:prstGeom>
            <a:solidFill>
              <a:schemeClr val="lt1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endParaRPr>
            </a:p>
          </p:txBody>
        </p:sp>
      </p:grpSp>
      <p:sp>
        <p:nvSpPr>
          <p:cNvPr id="2" name="Date Placeholder 1"/>
          <p:cNvSpPr txBox="1"/>
          <p:nvPr userDrawn="1"/>
        </p:nvSpPr>
        <p:spPr>
          <a:xfrm>
            <a:off x="875709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itchFamily="2" charset="0"/>
              <a:ea typeface="Roboto Condensed Light" pitchFamily="2" charset="0"/>
            </a:endParaRPr>
          </a:p>
        </p:txBody>
      </p:sp>
      <p:sp>
        <p:nvSpPr>
          <p:cNvPr id="4" name="Google Shape;128;p8"/>
          <p:cNvSpPr txBox="1"/>
          <p:nvPr userDrawn="1"/>
        </p:nvSpPr>
        <p:spPr>
          <a:xfrm>
            <a:off x="4038600" y="6604000"/>
            <a:ext cx="4761058" cy="25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Roboto Condensed Light"/>
              <a:buNone/>
            </a:pP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</a:t>
            </a:r>
            <a:r>
              <a:rPr lang="en-US" sz="1200" dirty="0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 2104CS301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(CN)   </a:t>
            </a:r>
            <a:r>
              <a:rPr lang="en-US" sz="1200" dirty="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LAB  2</a:t>
            </a:r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ck - Logo on TR">
  <p:cSld name="Blanck - Logo on TR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sp>
        <p:nvSpPr>
          <p:cNvPr id="131" name="Google Shape;131;p9"/>
          <p:cNvSpPr txBox="1"/>
          <p:nvPr/>
        </p:nvSpPr>
        <p:spPr>
          <a:xfrm>
            <a:off x="8382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Prof. Jay R Dhamsaniya</a:t>
            </a:r>
            <a:endParaRPr sz="1200">
              <a:solidFill>
                <a:srgbClr val="363636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132" name="Google Shape;132;p9"/>
          <p:cNvSpPr txBox="1"/>
          <p:nvPr/>
        </p:nvSpPr>
        <p:spPr>
          <a:xfrm>
            <a:off x="4038600" y="6604000"/>
            <a:ext cx="41148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#3130006 (PS)   </a:t>
            </a:r>
            <a:r>
              <a:rPr lang="en-US" sz="120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Unit 1 – Basic Probability</a:t>
            </a:r>
          </a:p>
        </p:txBody>
      </p:sp>
      <p:sp>
        <p:nvSpPr>
          <p:cNvPr id="133" name="Google Shape;133;p9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‹#›</a:t>
            </a:fld>
            <a:endParaRPr sz="1200" b="1">
              <a:solidFill>
                <a:srgbClr val="363636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cxnSp>
        <p:nvCxnSpPr>
          <p:cNvPr id="134" name="Google Shape;134;p9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5" name="Google Shape;135;p9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sp>
        <p:nvSpPr>
          <p:cNvPr id="137" name="Google Shape;137;p9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‹#›</a:t>
            </a:fld>
            <a:endParaRPr sz="1200" b="1">
              <a:solidFill>
                <a:srgbClr val="363636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cxnSp>
        <p:nvCxnSpPr>
          <p:cNvPr id="138" name="Google Shape;138;p9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39" name="Google Shape;139;p9"/>
          <p:cNvGrpSpPr/>
          <p:nvPr/>
        </p:nvGrpSpPr>
        <p:grpSpPr>
          <a:xfrm>
            <a:off x="9637856" y="0"/>
            <a:ext cx="2554142" cy="828000"/>
            <a:chOff x="131178" y="5775961"/>
            <a:chExt cx="2530238" cy="820250"/>
          </a:xfrm>
        </p:grpSpPr>
        <p:pic>
          <p:nvPicPr>
            <p:cNvPr id="140" name="Google Shape;140;p9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752314" y="5775961"/>
              <a:ext cx="1815353" cy="820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9"/>
            <p:cNvSpPr/>
            <p:nvPr/>
          </p:nvSpPr>
          <p:spPr>
            <a:xfrm>
              <a:off x="131178" y="5775961"/>
              <a:ext cx="2530238" cy="820250"/>
            </a:xfrm>
            <a:prstGeom prst="rect">
              <a:avLst/>
            </a:prstGeom>
            <a:solidFill>
              <a:schemeClr val="lt1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endParaRPr>
            </a:p>
          </p:txBody>
        </p:sp>
      </p:grpSp>
      <p:sp>
        <p:nvSpPr>
          <p:cNvPr id="2" name="Date Placeholder 1"/>
          <p:cNvSpPr txBox="1"/>
          <p:nvPr userDrawn="1"/>
        </p:nvSpPr>
        <p:spPr>
          <a:xfrm>
            <a:off x="875709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itchFamily="2" charset="0"/>
              <a:ea typeface="Roboto Condensed Light" pitchFamily="2" charset="0"/>
            </a:endParaRPr>
          </a:p>
        </p:txBody>
      </p:sp>
      <p:sp>
        <p:nvSpPr>
          <p:cNvPr id="4" name="Google Shape;128;p8"/>
          <p:cNvSpPr txBox="1"/>
          <p:nvPr userDrawn="1"/>
        </p:nvSpPr>
        <p:spPr>
          <a:xfrm>
            <a:off x="4038600" y="6604000"/>
            <a:ext cx="4761058" cy="25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Roboto Condensed Light"/>
              <a:buNone/>
            </a:pP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</a:t>
            </a:r>
            <a:r>
              <a:rPr lang="en-US" sz="1200" dirty="0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 2104CS301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(CN)   </a:t>
            </a:r>
            <a:r>
              <a:rPr lang="en-US" sz="1200" dirty="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LAB 2</a:t>
            </a:r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ck - Logo on BR">
  <p:cSld name="Blanck - Logo on BR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sp>
        <p:nvSpPr>
          <p:cNvPr id="145" name="Google Shape;145;p10"/>
          <p:cNvSpPr txBox="1"/>
          <p:nvPr/>
        </p:nvSpPr>
        <p:spPr>
          <a:xfrm>
            <a:off x="8382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Prof. Jay R Dhamsaniya</a:t>
            </a:r>
            <a:endParaRPr sz="1200">
              <a:solidFill>
                <a:srgbClr val="363636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146" name="Google Shape;146;p10"/>
          <p:cNvSpPr txBox="1"/>
          <p:nvPr/>
        </p:nvSpPr>
        <p:spPr>
          <a:xfrm>
            <a:off x="4038600" y="6604000"/>
            <a:ext cx="41148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#3130006 (PS)   </a:t>
            </a:r>
            <a:r>
              <a:rPr lang="en-US" sz="120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Unit 1 – Basic Probability</a:t>
            </a:r>
          </a:p>
        </p:txBody>
      </p:sp>
      <p:sp>
        <p:nvSpPr>
          <p:cNvPr id="147" name="Google Shape;147;p10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‹#›</a:t>
            </a:fld>
            <a:endParaRPr sz="1200" b="1">
              <a:solidFill>
                <a:srgbClr val="363636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cxnSp>
        <p:nvCxnSpPr>
          <p:cNvPr id="148" name="Google Shape;148;p10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9" name="Google Shape;149;p10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sp>
        <p:nvSpPr>
          <p:cNvPr id="151" name="Google Shape;151;p10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‹#›</a:t>
            </a:fld>
            <a:endParaRPr sz="1200" b="1">
              <a:solidFill>
                <a:srgbClr val="363636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cxnSp>
        <p:nvCxnSpPr>
          <p:cNvPr id="152" name="Google Shape;152;p10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53" name="Google Shape;153;p10"/>
          <p:cNvGrpSpPr/>
          <p:nvPr/>
        </p:nvGrpSpPr>
        <p:grpSpPr>
          <a:xfrm>
            <a:off x="9637856" y="0"/>
            <a:ext cx="2554142" cy="828000"/>
            <a:chOff x="131178" y="5775961"/>
            <a:chExt cx="2530238" cy="820250"/>
          </a:xfrm>
        </p:grpSpPr>
        <p:pic>
          <p:nvPicPr>
            <p:cNvPr id="154" name="Google Shape;154;p10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752314" y="5775961"/>
              <a:ext cx="1815353" cy="820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0"/>
            <p:cNvSpPr/>
            <p:nvPr/>
          </p:nvSpPr>
          <p:spPr>
            <a:xfrm>
              <a:off x="131178" y="5775961"/>
              <a:ext cx="2530238" cy="820250"/>
            </a:xfrm>
            <a:prstGeom prst="rect">
              <a:avLst/>
            </a:prstGeom>
            <a:solidFill>
              <a:schemeClr val="lt1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endParaRPr>
            </a:p>
          </p:txBody>
        </p:sp>
      </p:grpSp>
      <p:sp>
        <p:nvSpPr>
          <p:cNvPr id="2" name="Date Placeholder 1"/>
          <p:cNvSpPr txBox="1"/>
          <p:nvPr userDrawn="1"/>
        </p:nvSpPr>
        <p:spPr>
          <a:xfrm>
            <a:off x="875709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itchFamily="2" charset="0"/>
              <a:ea typeface="Roboto Condensed Light" pitchFamily="2" charset="0"/>
            </a:endParaRPr>
          </a:p>
        </p:txBody>
      </p:sp>
      <p:sp>
        <p:nvSpPr>
          <p:cNvPr id="4" name="Google Shape;128;p8"/>
          <p:cNvSpPr txBox="1"/>
          <p:nvPr userDrawn="1"/>
        </p:nvSpPr>
        <p:spPr>
          <a:xfrm>
            <a:off x="4038600" y="6604000"/>
            <a:ext cx="4761058" cy="25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Roboto Condensed Light"/>
              <a:buNone/>
            </a:pP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</a:t>
            </a:r>
            <a:r>
              <a:rPr lang="en-US" sz="1200" dirty="0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 2104CS301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(CN)   </a:t>
            </a:r>
            <a:r>
              <a:rPr lang="en-US" sz="1200" dirty="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LAB 2</a:t>
            </a:r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ck - Logo on BL">
  <p:cSld name="Blanck - Logo on BL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sp>
        <p:nvSpPr>
          <p:cNvPr id="159" name="Google Shape;159;p11"/>
          <p:cNvSpPr txBox="1"/>
          <p:nvPr/>
        </p:nvSpPr>
        <p:spPr>
          <a:xfrm>
            <a:off x="8382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Prof. Jay R Dhamsaniya</a:t>
            </a:r>
            <a:endParaRPr sz="1200">
              <a:solidFill>
                <a:srgbClr val="363636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160" name="Google Shape;160;p11"/>
          <p:cNvSpPr txBox="1"/>
          <p:nvPr/>
        </p:nvSpPr>
        <p:spPr>
          <a:xfrm>
            <a:off x="4038600" y="6604000"/>
            <a:ext cx="41148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#3130006 (PS)   </a:t>
            </a:r>
            <a:r>
              <a:rPr lang="en-US" sz="120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Unit 1 – Basic Probability</a:t>
            </a:r>
          </a:p>
        </p:txBody>
      </p:sp>
      <p:sp>
        <p:nvSpPr>
          <p:cNvPr id="161" name="Google Shape;161;p11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‹#›</a:t>
            </a:fld>
            <a:endParaRPr sz="1200" b="1">
              <a:solidFill>
                <a:srgbClr val="363636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cxnSp>
        <p:nvCxnSpPr>
          <p:cNvPr id="162" name="Google Shape;162;p11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3" name="Google Shape;163;p11"/>
          <p:cNvSpPr/>
          <p:nvPr/>
        </p:nvSpPr>
        <p:spPr>
          <a:xfrm>
            <a:off x="143018" y="6569871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sp>
        <p:nvSpPr>
          <p:cNvPr id="165" name="Google Shape;165;p11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‹#›</a:t>
            </a:fld>
            <a:endParaRPr sz="1200" b="1">
              <a:solidFill>
                <a:srgbClr val="363636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cxnSp>
        <p:nvCxnSpPr>
          <p:cNvPr id="166" name="Google Shape;166;p11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67" name="Google Shape;167;p11"/>
          <p:cNvGrpSpPr/>
          <p:nvPr/>
        </p:nvGrpSpPr>
        <p:grpSpPr>
          <a:xfrm>
            <a:off x="143018" y="5741871"/>
            <a:ext cx="2554142" cy="828000"/>
            <a:chOff x="131178" y="5775961"/>
            <a:chExt cx="2530238" cy="820250"/>
          </a:xfrm>
        </p:grpSpPr>
        <p:pic>
          <p:nvPicPr>
            <p:cNvPr id="168" name="Google Shape;168;p11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752314" y="5775961"/>
              <a:ext cx="1815353" cy="820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" name="Google Shape;169;p11"/>
            <p:cNvSpPr/>
            <p:nvPr/>
          </p:nvSpPr>
          <p:spPr>
            <a:xfrm>
              <a:off x="131178" y="5775961"/>
              <a:ext cx="2530238" cy="820250"/>
            </a:xfrm>
            <a:prstGeom prst="rect">
              <a:avLst/>
            </a:prstGeom>
            <a:solidFill>
              <a:schemeClr val="lt1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endParaRPr>
            </a:p>
          </p:txBody>
        </p:sp>
      </p:grpSp>
      <p:sp>
        <p:nvSpPr>
          <p:cNvPr id="2" name="Date Placeholder 1"/>
          <p:cNvSpPr txBox="1"/>
          <p:nvPr userDrawn="1"/>
        </p:nvSpPr>
        <p:spPr>
          <a:xfrm>
            <a:off x="875709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itchFamily="2" charset="0"/>
              <a:ea typeface="Roboto Condensed Light" pitchFamily="2" charset="0"/>
            </a:endParaRPr>
          </a:p>
        </p:txBody>
      </p:sp>
      <p:sp>
        <p:nvSpPr>
          <p:cNvPr id="4" name="Google Shape;128;p8"/>
          <p:cNvSpPr txBox="1"/>
          <p:nvPr userDrawn="1"/>
        </p:nvSpPr>
        <p:spPr>
          <a:xfrm>
            <a:off x="4038600" y="6604000"/>
            <a:ext cx="4761058" cy="25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Roboto Condensed Light"/>
              <a:buNone/>
            </a:pP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</a:t>
            </a:r>
            <a:r>
              <a:rPr lang="en-US" sz="1200" dirty="0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 2104CS301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(CN)   </a:t>
            </a:r>
            <a:r>
              <a:rPr lang="en-US" sz="1200" dirty="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LAB 2</a:t>
            </a:r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3"/>
          <p:cNvPicPr preferRelativeResize="0"/>
          <p:nvPr/>
        </p:nvPicPr>
        <p:blipFill rotWithShape="1">
          <a:blip r:embed="rId2"/>
          <a:srcRect r="11581" b="21179"/>
          <a:stretch>
            <a:fillRect/>
          </a:stretch>
        </p:blipFill>
        <p:spPr>
          <a:xfrm rot="-5400000">
            <a:off x="9807099" y="606901"/>
            <a:ext cx="2991808" cy="177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3"/>
          <p:cNvPicPr preferRelativeResize="0"/>
          <p:nvPr/>
        </p:nvPicPr>
        <p:blipFill rotWithShape="1">
          <a:blip r:embed="rId3"/>
          <a:srcRect l="79646" t="18062" r="2730" b="17724"/>
          <a:stretch>
            <a:fillRect/>
          </a:stretch>
        </p:blipFill>
        <p:spPr>
          <a:xfrm>
            <a:off x="0" y="401568"/>
            <a:ext cx="543946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 panose="02000000000000000000"/>
              <a:buNone/>
              <a:defRPr sz="6000" b="1">
                <a:solidFill>
                  <a:srgbClr val="1D3064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0" name="Google Shape;40;p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2000"/>
              <a:buNone/>
              <a:defRPr sz="2000">
                <a:solidFill>
                  <a:srgbClr val="8A8A8A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800"/>
              <a:buNone/>
              <a:defRPr sz="1800">
                <a:solidFill>
                  <a:srgbClr val="8A8A8A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9pPr>
          </a:lstStyle>
          <a:p>
            <a:endParaRPr/>
          </a:p>
        </p:txBody>
      </p:sp>
      <p:pic>
        <p:nvPicPr>
          <p:cNvPr id="41" name="Google Shape;41;p3"/>
          <p:cNvPicPr preferRelativeResize="0"/>
          <p:nvPr/>
        </p:nvPicPr>
        <p:blipFill rotWithShape="1">
          <a:blip r:embed="rId2"/>
          <a:srcRect r="11581" b="21179"/>
          <a:stretch>
            <a:fillRect/>
          </a:stretch>
        </p:blipFill>
        <p:spPr>
          <a:xfrm rot="-5400000">
            <a:off x="9807099" y="606901"/>
            <a:ext cx="2991808" cy="177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3"/>
          <p:cNvPicPr preferRelativeResize="0"/>
          <p:nvPr/>
        </p:nvPicPr>
        <p:blipFill rotWithShape="1">
          <a:blip r:embed="rId4"/>
          <a:srcRect l="79646" t="18062" r="2730" b="17724"/>
          <a:stretch>
            <a:fillRect/>
          </a:stretch>
        </p:blipFill>
        <p:spPr>
          <a:xfrm>
            <a:off x="0" y="401568"/>
            <a:ext cx="543946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"/>
          <p:cNvSpPr/>
          <p:nvPr/>
        </p:nvSpPr>
        <p:spPr>
          <a:xfrm>
            <a:off x="0" y="5905331"/>
            <a:ext cx="1901425" cy="952668"/>
          </a:xfrm>
          <a:custGeom>
            <a:avLst/>
            <a:gdLst/>
            <a:ahLst/>
            <a:cxnLst/>
            <a:rect l="l" t="t" r="r" b="b"/>
            <a:pathLst>
              <a:path w="2048" h="1024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B71B1C"/>
              </a:gs>
              <a:gs pos="10000">
                <a:srgbClr val="B71B1C"/>
              </a:gs>
              <a:gs pos="100000">
                <a:srgbClr val="ED524F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pic>
        <p:nvPicPr>
          <p:cNvPr id="44" name="Google Shape;44;p3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0169807" y="5866956"/>
            <a:ext cx="1778000" cy="803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51730" y="244174"/>
            <a:ext cx="3395148" cy="1442867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/>
          <a:stretch/>
        </p:blipFill>
        <p:spPr>
          <a:xfrm>
            <a:off x="959767" y="3827036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D370FB6-7031-0A4B-838F-03DBE8CD8D6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983130" y="2329344"/>
            <a:ext cx="2199311" cy="219931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1946227-18C8-F84C-AE02-FA328FFAD9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290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Condensed" panose="02000000000000000000"/>
              <a:buNone/>
              <a:defRPr sz="44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747E4E-823D-614A-B4B7-AC128FF38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242" y="1103123"/>
            <a:ext cx="8297907" cy="2578780"/>
          </a:xfrm>
        </p:spPr>
        <p:txBody>
          <a:bodyPr/>
          <a:lstStyle/>
          <a:p>
            <a:r>
              <a:rPr lang="en-US" sz="4400" b="0" dirty="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LAB-9</a:t>
            </a:r>
            <a:br>
              <a:rPr lang="en-US" sz="4400" dirty="0"/>
            </a:br>
            <a:r>
              <a:rPr lang="en-US" sz="4400" dirty="0"/>
              <a:t>Wireshark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EBD4442-5C83-5F4A-8AEA-1614164C87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maulik.trivedi@darshan.ac.in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07D4B6-0B64-6A44-BA9C-B9BF69DC2E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+91-9998265805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E4F568A-30BE-2049-9622-DC2108A446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Computer Engineering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71A5B73-F4FC-AC48-953E-993670B73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Prof. Maulik D Trivedi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3BE456-33E7-B748-B5B3-F501CA8044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Computer Networks </a:t>
            </a:r>
            <a:r>
              <a:rPr lang="en-US" dirty="0"/>
              <a:t>(CN)</a:t>
            </a:r>
          </a:p>
          <a:p>
            <a:pPr>
              <a:spcAft>
                <a:spcPts val="600"/>
              </a:spcAft>
            </a:pPr>
            <a:r>
              <a:rPr lang="en-US" dirty="0"/>
              <a:t>DU #2301CS501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72831386-25BD-CB4A-8E69-CCA21F5039F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5012AC-5C43-CE81-D61F-5FA20BB1D897}"/>
              </a:ext>
            </a:extLst>
          </p:cNvPr>
          <p:cNvSpPr txBox="1"/>
          <p:nvPr/>
        </p:nvSpPr>
        <p:spPr>
          <a:xfrm>
            <a:off x="6096000" y="6460218"/>
            <a:ext cx="61001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Disclaimer: The images used in this presentation are sourced solely for educational and nonprofit purposes. The author of this presentation asserts no ownership or copyright claims over them."</a:t>
            </a:r>
          </a:p>
        </p:txBody>
      </p:sp>
    </p:spTree>
    <p:extLst>
      <p:ext uri="{BB962C8B-B14F-4D97-AF65-F5344CB8AC3E}">
        <p14:creationId xmlns:p14="http://schemas.microsoft.com/office/powerpoint/2010/main" val="235490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What is Wireshark?</a:t>
            </a:r>
            <a:endParaRPr lang="en-US" dirty="0">
              <a:solidFill>
                <a:srgbClr val="363636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472241" cy="5590565"/>
          </a:xfrm>
        </p:spPr>
        <p:txBody>
          <a:bodyPr/>
          <a:lstStyle/>
          <a:p>
            <a:r>
              <a:rPr lang="en-IN" dirty="0"/>
              <a:t>Wireshark is a free and </a:t>
            </a:r>
            <a:r>
              <a:rPr lang="en-IN" dirty="0">
                <a:solidFill>
                  <a:srgbClr val="FF0000"/>
                </a:solidFill>
              </a:rPr>
              <a:t>open-source network protocol </a:t>
            </a:r>
            <a:r>
              <a:rPr lang="en-IN" dirty="0" err="1">
                <a:solidFill>
                  <a:srgbClr val="FF0000"/>
                </a:solidFill>
              </a:rPr>
              <a:t>analyzer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used to capture and inspect network packets travelling across a network. It helps students understand how data is transmitted between devices and is widely used for troubleshooting, protocol analysis, and cybersecurity.</a:t>
            </a:r>
          </a:p>
          <a:p>
            <a:r>
              <a:rPr lang="en-IN" dirty="0"/>
              <a:t>Supports real-time packet capture and offline analysis of saved capture files (.</a:t>
            </a:r>
            <a:r>
              <a:rPr lang="en-IN" dirty="0" err="1"/>
              <a:t>pcap</a:t>
            </a:r>
            <a:r>
              <a:rPr lang="en-IN" dirty="0"/>
              <a:t> / .</a:t>
            </a:r>
            <a:r>
              <a:rPr lang="en-IN" dirty="0" err="1"/>
              <a:t>pcapng</a:t>
            </a:r>
            <a:r>
              <a:rPr lang="en-IN" dirty="0"/>
              <a:t>).</a:t>
            </a:r>
          </a:p>
          <a:p>
            <a:r>
              <a:rPr lang="en-IN" dirty="0"/>
              <a:t>Provides a graphical interface to monitor and analyse network communication between devices.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728F0-1026-EEE0-9909-167B290C6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Starting Packet Capture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37E2E32-CD14-29B9-2998-86274F07DAB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578" y="863600"/>
            <a:ext cx="7196845" cy="559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5899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F25BB-47CA-97E9-278F-B278F7E7E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Starting Packet Capture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CF9BB-9198-9E95-7EF9-FEC919B72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Steps</a:t>
            </a:r>
          </a:p>
          <a:p>
            <a:pPr>
              <a:buFont typeface="+mj-lt"/>
              <a:buAutoNum type="arabicPeriod"/>
            </a:pPr>
            <a:r>
              <a:rPr lang="en-IN" dirty="0"/>
              <a:t>Open </a:t>
            </a:r>
            <a:r>
              <a:rPr lang="en-IN" b="1" dirty="0"/>
              <a:t>Wireshark</a:t>
            </a:r>
            <a:r>
              <a:rPr lang="en-IN" dirty="0"/>
              <a:t>. </a:t>
            </a:r>
          </a:p>
          <a:p>
            <a:pPr>
              <a:buFont typeface="+mj-lt"/>
              <a:buAutoNum type="arabicPeriod"/>
            </a:pPr>
            <a:r>
              <a:rPr lang="en-IN" dirty="0"/>
              <a:t>Select the active network interface (Ethernet or Wi-Fi). </a:t>
            </a:r>
          </a:p>
          <a:p>
            <a:pPr>
              <a:buFont typeface="+mj-lt"/>
              <a:buAutoNum type="arabicPeriod"/>
            </a:pPr>
            <a:r>
              <a:rPr lang="en-IN" dirty="0"/>
              <a:t>Click the </a:t>
            </a:r>
            <a:r>
              <a:rPr lang="en-IN" b="1" dirty="0"/>
              <a:t>Start Capturing Packets</a:t>
            </a:r>
            <a:r>
              <a:rPr lang="en-IN" dirty="0"/>
              <a:t> button. </a:t>
            </a:r>
          </a:p>
          <a:p>
            <a:pPr>
              <a:buFont typeface="+mj-lt"/>
              <a:buAutoNum type="arabicPeriod"/>
            </a:pPr>
            <a:r>
              <a:rPr lang="en-IN" dirty="0"/>
              <a:t>Generate network traffic by browsing a website or using the ping command. </a:t>
            </a:r>
          </a:p>
          <a:p>
            <a:pPr>
              <a:buFont typeface="+mj-lt"/>
              <a:buAutoNum type="arabicPeriod"/>
            </a:pPr>
            <a:r>
              <a:rPr lang="en-IN" dirty="0"/>
              <a:t>Click the </a:t>
            </a:r>
            <a:r>
              <a:rPr lang="en-IN" b="1" dirty="0"/>
              <a:t>Stop</a:t>
            </a:r>
            <a:r>
              <a:rPr lang="en-IN" dirty="0"/>
              <a:t> button to finish the capture.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Example:</a:t>
            </a:r>
          </a:p>
          <a:p>
            <a:pPr marL="544195" lvl="1" indent="0">
              <a:buNone/>
            </a:pPr>
            <a:r>
              <a:rPr lang="en-IN" dirty="0"/>
              <a:t>ping </a:t>
            </a:r>
            <a:r>
              <a:rPr lang="en-IN" dirty="0" err="1"/>
              <a:t>google.com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This generates ICMP packets that can be analysed in Wireshark.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18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21957-8770-24BB-E679-0869BF8DA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Display Filter Syntax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EE2F1B0-9EEE-E89C-B235-BB570F6AA6E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973137"/>
            <a:ext cx="10160000" cy="537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1876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EC8C2-D852-59AD-B80F-73E7767FB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Display Filter Syntax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9A0D6-D49D-1DF6-358D-C8C4734DC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Common Display Filters</a:t>
            </a:r>
          </a:p>
          <a:p>
            <a:pPr lvl="1"/>
            <a:r>
              <a:rPr lang="en-IN" dirty="0"/>
              <a:t>http</a:t>
            </a:r>
          </a:p>
          <a:p>
            <a:pPr lvl="1"/>
            <a:r>
              <a:rPr lang="en-IN" dirty="0" err="1"/>
              <a:t>tcp</a:t>
            </a:r>
            <a:endParaRPr lang="en-IN" dirty="0"/>
          </a:p>
          <a:p>
            <a:pPr lvl="1"/>
            <a:r>
              <a:rPr lang="en-IN" dirty="0" err="1"/>
              <a:t>udp</a:t>
            </a:r>
            <a:endParaRPr lang="en-IN" dirty="0"/>
          </a:p>
          <a:p>
            <a:r>
              <a:rPr lang="en-IN" b="1" dirty="0"/>
              <a:t>IP Address Filters</a:t>
            </a:r>
          </a:p>
          <a:p>
            <a:pPr lvl="1"/>
            <a:r>
              <a:rPr lang="en-IN" dirty="0" err="1"/>
              <a:t>ip.addr</a:t>
            </a:r>
            <a:r>
              <a:rPr lang="en-IN" dirty="0"/>
              <a:t> == 192.168.1.10</a:t>
            </a:r>
          </a:p>
          <a:p>
            <a:pPr lvl="1"/>
            <a:r>
              <a:rPr lang="en-IN" dirty="0" err="1"/>
              <a:t>ip.src</a:t>
            </a:r>
            <a:r>
              <a:rPr lang="en-IN" dirty="0"/>
              <a:t> == 192.168.1.10</a:t>
            </a:r>
          </a:p>
          <a:p>
            <a:pPr lvl="1"/>
            <a:r>
              <a:rPr lang="en-IN" dirty="0" err="1"/>
              <a:t>ip.dst</a:t>
            </a:r>
            <a:r>
              <a:rPr lang="en-IN" dirty="0"/>
              <a:t> == 192.168.1.20</a:t>
            </a:r>
          </a:p>
          <a:p>
            <a:r>
              <a:rPr lang="en-IN" b="1" dirty="0"/>
              <a:t>Port Filters</a:t>
            </a:r>
          </a:p>
          <a:p>
            <a:pPr lvl="1"/>
            <a:r>
              <a:rPr lang="en-US" dirty="0" err="1"/>
              <a:t>tcp.port</a:t>
            </a:r>
            <a:r>
              <a:rPr lang="en-US" dirty="0"/>
              <a:t> == 80</a:t>
            </a:r>
          </a:p>
          <a:p>
            <a:pPr lvl="1"/>
            <a:r>
              <a:rPr lang="en-US" dirty="0" err="1"/>
              <a:t>tcp.port</a:t>
            </a:r>
            <a:r>
              <a:rPr lang="en-US" dirty="0"/>
              <a:t> == 443</a:t>
            </a:r>
          </a:p>
          <a:p>
            <a:pPr lvl="1"/>
            <a:r>
              <a:rPr lang="en-US" dirty="0" err="1"/>
              <a:t>udp.port</a:t>
            </a:r>
            <a:r>
              <a:rPr lang="en-US" dirty="0"/>
              <a:t> == 53</a:t>
            </a:r>
          </a:p>
        </p:txBody>
      </p:sp>
    </p:spTree>
    <p:extLst>
      <p:ext uri="{BB962C8B-B14F-4D97-AF65-F5344CB8AC3E}">
        <p14:creationId xmlns:p14="http://schemas.microsoft.com/office/powerpoint/2010/main" val="3605842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C0F16-5CB4-5BA2-489C-50B0F56DF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Advanced Filtering</a:t>
            </a:r>
            <a:endParaRPr lang="en-US" dirty="0"/>
          </a:p>
        </p:txBody>
      </p:sp>
      <p:pic>
        <p:nvPicPr>
          <p:cNvPr id="3074" name="Picture 2" descr="Key Insights to Know Before Starting Packet Capture | 東陽テクニカ | “はかる”技術で未来を創る | 情報通信">
            <a:extLst>
              <a:ext uri="{FF2B5EF4-FFF2-40B4-BE49-F238E27FC236}">
                <a16:creationId xmlns:a16="http://schemas.microsoft.com/office/drawing/2014/main" id="{47BB795B-770C-E463-1F61-760CC5A7D58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6715" y="863600"/>
            <a:ext cx="9058570" cy="559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2423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6F725-7D59-010F-DAAE-167CD0035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Advanced Filtering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931A3-D28A-8EAE-7A16-973E1DEA5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TCP Filters</a:t>
            </a:r>
          </a:p>
          <a:p>
            <a:pPr lvl="1"/>
            <a:r>
              <a:rPr lang="en-US" dirty="0" err="1"/>
              <a:t>tcp.flags.syn</a:t>
            </a:r>
            <a:r>
              <a:rPr lang="en-US" dirty="0"/>
              <a:t> == 1</a:t>
            </a:r>
          </a:p>
          <a:p>
            <a:pPr lvl="1"/>
            <a:r>
              <a:rPr lang="en-US" dirty="0" err="1"/>
              <a:t>tcp.flags.ack</a:t>
            </a:r>
            <a:r>
              <a:rPr lang="en-US" dirty="0"/>
              <a:t> == 1</a:t>
            </a:r>
          </a:p>
          <a:p>
            <a:pPr lvl="1"/>
            <a:r>
              <a:rPr lang="en-US" dirty="0" err="1"/>
              <a:t>tcp.analysis.retransmission</a:t>
            </a:r>
            <a:endParaRPr lang="en-IN" dirty="0"/>
          </a:p>
          <a:p>
            <a:r>
              <a:rPr lang="en-IN" b="1" dirty="0"/>
              <a:t>DNS Filters</a:t>
            </a:r>
          </a:p>
          <a:p>
            <a:pPr lvl="1"/>
            <a:r>
              <a:rPr lang="en-US" dirty="0" err="1"/>
              <a:t>dns</a:t>
            </a:r>
            <a:endParaRPr lang="en-US" dirty="0"/>
          </a:p>
          <a:p>
            <a:pPr lvl="1"/>
            <a:r>
              <a:rPr lang="en-US" dirty="0" err="1"/>
              <a:t>dns.qry.name</a:t>
            </a:r>
            <a:endParaRPr lang="en-US" dirty="0"/>
          </a:p>
          <a:p>
            <a:pPr lvl="1"/>
            <a:r>
              <a:rPr lang="en-US" dirty="0" err="1"/>
              <a:t>dns.flags.response</a:t>
            </a:r>
            <a:r>
              <a:rPr lang="en-US" dirty="0"/>
              <a:t> == 1</a:t>
            </a:r>
          </a:p>
          <a:p>
            <a:r>
              <a:rPr lang="en-IN" b="1" dirty="0"/>
              <a:t>Combining Filters</a:t>
            </a:r>
          </a:p>
          <a:p>
            <a:pPr lvl="1"/>
            <a:r>
              <a:rPr lang="en-US" dirty="0" err="1"/>
              <a:t>tcp</a:t>
            </a:r>
            <a:r>
              <a:rPr lang="en-US" dirty="0"/>
              <a:t> &amp;&amp; </a:t>
            </a:r>
            <a:r>
              <a:rPr lang="en-US" dirty="0" err="1"/>
              <a:t>ip.addr</a:t>
            </a:r>
            <a:r>
              <a:rPr lang="en-US" dirty="0"/>
              <a:t> == 192.168.1.15</a:t>
            </a:r>
          </a:p>
          <a:p>
            <a:pPr lvl="1"/>
            <a:r>
              <a:rPr lang="en-US" dirty="0" err="1"/>
              <a:t>dns</a:t>
            </a:r>
            <a:r>
              <a:rPr lang="en-US" dirty="0"/>
              <a:t> &amp;&amp; </a:t>
            </a:r>
            <a:r>
              <a:rPr lang="en-US" dirty="0" err="1"/>
              <a:t>ip.src</a:t>
            </a:r>
            <a:r>
              <a:rPr lang="en-US" dirty="0"/>
              <a:t> == 192.168.1.5</a:t>
            </a:r>
          </a:p>
        </p:txBody>
      </p:sp>
    </p:spTree>
    <p:extLst>
      <p:ext uri="{BB962C8B-B14F-4D97-AF65-F5344CB8AC3E}">
        <p14:creationId xmlns:p14="http://schemas.microsoft.com/office/powerpoint/2010/main" val="1620526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D488F-C46F-7064-4310-04A505232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Packet Analysis</a:t>
            </a:r>
            <a:endParaRPr lang="en-US" dirty="0"/>
          </a:p>
        </p:txBody>
      </p:sp>
      <p:pic>
        <p:nvPicPr>
          <p:cNvPr id="4098" name="Picture 2" descr="[Wireshark]Network traffic analysis with Wireshark! | by Takahiro Oda | Medium">
            <a:extLst>
              <a:ext uri="{FF2B5EF4-FFF2-40B4-BE49-F238E27FC236}">
                <a16:creationId xmlns:a16="http://schemas.microsoft.com/office/drawing/2014/main" id="{172E5C85-4440-28B4-E046-0B24A78CEA7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240" y="863600"/>
            <a:ext cx="7833520" cy="559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8642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5F882-5010-15A3-2626-6388C30F9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Packet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072DB-B57C-75FB-36FF-4AF30B862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Information Available in Every Packet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Frame Number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Time Stamp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Source IP Address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Destination IP Address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Protocol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Packet Length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Packet Details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Packet Bytes (Hex View) </a:t>
            </a:r>
          </a:p>
          <a:p>
            <a:r>
              <a:rPr lang="en-US" b="1" dirty="0"/>
              <a:t>Example:</a:t>
            </a:r>
          </a:p>
          <a:p>
            <a:pPr lvl="1"/>
            <a:r>
              <a:rPr lang="en-US" dirty="0"/>
              <a:t>Source IP      : 192.168.1.10</a:t>
            </a:r>
          </a:p>
          <a:p>
            <a:pPr lvl="1"/>
            <a:r>
              <a:rPr lang="en-US" dirty="0"/>
              <a:t>Destination IP : 142.250.183.78</a:t>
            </a:r>
          </a:p>
          <a:p>
            <a:pPr lvl="1"/>
            <a:r>
              <a:rPr lang="en-US" dirty="0"/>
              <a:t>Protocol        : TCP</a:t>
            </a:r>
          </a:p>
          <a:p>
            <a:pPr lvl="1"/>
            <a:r>
              <a:rPr lang="en-US" dirty="0"/>
              <a:t>Destination Port: 443</a:t>
            </a:r>
          </a:p>
        </p:txBody>
      </p:sp>
    </p:spTree>
    <p:extLst>
      <p:ext uri="{BB962C8B-B14F-4D97-AF65-F5344CB8AC3E}">
        <p14:creationId xmlns:p14="http://schemas.microsoft.com/office/powerpoint/2010/main" val="1111814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D1340-F340-5F77-7A4B-F7EB617FA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Do Packet Colours Mean in Wireshark?</a:t>
            </a:r>
            <a:endParaRPr lang="en-US" dirty="0"/>
          </a:p>
        </p:txBody>
      </p:sp>
      <p:pic>
        <p:nvPicPr>
          <p:cNvPr id="5122" name="Picture 2" descr="How to use Wireshark to capture and inspect network trace">
            <a:extLst>
              <a:ext uri="{FF2B5EF4-FFF2-40B4-BE49-F238E27FC236}">
                <a16:creationId xmlns:a16="http://schemas.microsoft.com/office/drawing/2014/main" id="{86665CEB-76A2-7EA4-A32D-25C00E264CF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2515" y="863600"/>
            <a:ext cx="6026971" cy="559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3283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C1082-B40B-9748-D4FB-0A3613826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Do Packet Colours Mean in Wireshark?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90157-0C81-D865-D508-D4117EBA2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1350366"/>
          </a:xfrm>
        </p:spPr>
        <p:txBody>
          <a:bodyPr/>
          <a:lstStyle/>
          <a:p>
            <a:r>
              <a:rPr lang="en-IN" dirty="0"/>
              <a:t>Wireshark uses different colours to make it easier to identify network protocols and potential issues at a glance. The colours are based on predefined colouring rules and can be customised.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7F21251-4683-9F82-528E-5E6B997868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372023"/>
              </p:ext>
            </p:extLst>
          </p:nvPr>
        </p:nvGraphicFramePr>
        <p:xfrm>
          <a:off x="916405" y="2373921"/>
          <a:ext cx="10359190" cy="3609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9595">
                  <a:extLst>
                    <a:ext uri="{9D8B030D-6E8A-4147-A177-3AD203B41FA5}">
                      <a16:colId xmlns:a16="http://schemas.microsoft.com/office/drawing/2014/main" val="3497086753"/>
                    </a:ext>
                  </a:extLst>
                </a:gridCol>
                <a:gridCol w="5179595">
                  <a:extLst>
                    <a:ext uri="{9D8B030D-6E8A-4147-A177-3AD203B41FA5}">
                      <a16:colId xmlns:a16="http://schemas.microsoft.com/office/drawing/2014/main" val="2541681066"/>
                    </a:ext>
                  </a:extLst>
                </a:gridCol>
              </a:tblGrid>
              <a:tr h="463078">
                <a:tc>
                  <a:txBody>
                    <a:bodyPr/>
                    <a:lstStyle/>
                    <a:p>
                      <a:r>
                        <a:rPr lang="en-US" dirty="0" err="1"/>
                        <a:t>Colour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710347"/>
                  </a:ext>
                </a:extLst>
              </a:tr>
              <a:tr h="463078">
                <a:tc>
                  <a:txBody>
                    <a:bodyPr/>
                    <a:lstStyle/>
                    <a:p>
                      <a:r>
                        <a:rPr lang="en-IN" dirty="0"/>
                        <a:t>Green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TCP traffic (normal TCP packets)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368915"/>
                  </a:ext>
                </a:extLst>
              </a:tr>
              <a:tr h="463078">
                <a:tc>
                  <a:txBody>
                    <a:bodyPr/>
                    <a:lstStyle/>
                    <a:p>
                      <a:r>
                        <a:rPr lang="en-IN" dirty="0"/>
                        <a:t>Light Blue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DNS queries and responses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027705"/>
                  </a:ext>
                </a:extLst>
              </a:tr>
              <a:tr h="647041">
                <a:tc>
                  <a:txBody>
                    <a:bodyPr/>
                    <a:lstStyle/>
                    <a:p>
                      <a:r>
                        <a:rPr lang="en-IN" dirty="0"/>
                        <a:t>Black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Bad TCP packets or errors (retransmissions, checksum issues, etc.)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8216592"/>
                  </a:ext>
                </a:extLst>
              </a:tr>
              <a:tr h="463078">
                <a:tc>
                  <a:txBody>
                    <a:bodyPr/>
                    <a:lstStyle/>
                    <a:p>
                      <a:r>
                        <a:rPr lang="en-IN" dirty="0"/>
                        <a:t>Purple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90204"/>
                        <a:buNone/>
                        <a:tabLst/>
                        <a:defRPr/>
                      </a:pPr>
                      <a:r>
                        <a:rPr lang="en-IN" dirty="0"/>
                        <a:t>UDP traffic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98122"/>
                  </a:ext>
                </a:extLst>
              </a:tr>
              <a:tr h="647041">
                <a:tc>
                  <a:txBody>
                    <a:bodyPr/>
                    <a:lstStyle/>
                    <a:p>
                      <a:r>
                        <a:rPr lang="en-IN" dirty="0"/>
                        <a:t>Yellow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HTTP or web-related traffic (depending on colouring rules)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770281"/>
                  </a:ext>
                </a:extLst>
              </a:tr>
              <a:tr h="463078">
                <a:tc>
                  <a:txBody>
                    <a:bodyPr/>
                    <a:lstStyle/>
                    <a:p>
                      <a:r>
                        <a:rPr lang="en-IN" dirty="0"/>
                        <a:t>White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Packets that do not match any colouring rule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342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3023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D6161-7586-1C2F-8898-8079EEDFC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Do Packet Colours Mean in Wireshark?</a:t>
            </a:r>
            <a:endParaRPr lang="en-US" dirty="0"/>
          </a:p>
        </p:txBody>
      </p:sp>
      <p:pic>
        <p:nvPicPr>
          <p:cNvPr id="6146" name="Picture 2" descr="Coloring Rules">
            <a:extLst>
              <a:ext uri="{FF2B5EF4-FFF2-40B4-BE49-F238E27FC236}">
                <a16:creationId xmlns:a16="http://schemas.microsoft.com/office/drawing/2014/main" id="{3B9588FE-755C-AEEB-90DE-1F70E122085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1053" y="863600"/>
            <a:ext cx="7329894" cy="559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1913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4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 panose="02000000000000000000"/>
              <a:buNone/>
            </a:pPr>
            <a:r>
              <a:rPr lang="en-US" sz="6000" b="0"/>
              <a:t>Thank </a:t>
            </a:r>
            <a:r>
              <a:rPr lang="en-US" b="0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deo Lecture 16x9 Light Template">
  <a:themeElements>
    <a:clrScheme name="Jay">
      <a:dk1>
        <a:srgbClr val="212121"/>
      </a:dk1>
      <a:lt1>
        <a:srgbClr val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465</Words>
  <Application>Microsoft Macintosh PowerPoint</Application>
  <PresentationFormat>Widescreen</PresentationFormat>
  <Paragraphs>87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Roboto Condensed Light</vt:lpstr>
      <vt:lpstr>Noto Sans Symbols</vt:lpstr>
      <vt:lpstr>Arial</vt:lpstr>
      <vt:lpstr>Roboto Condensed</vt:lpstr>
      <vt:lpstr>Calibri</vt:lpstr>
      <vt:lpstr>Wingdings 3</vt:lpstr>
      <vt:lpstr>Wingdings</vt:lpstr>
      <vt:lpstr>VIdeo Lecture 16x9 Light Template</vt:lpstr>
      <vt:lpstr>LAB-9 Wireshark</vt:lpstr>
      <vt:lpstr>What is Wireshark?</vt:lpstr>
      <vt:lpstr>Starting Packet Capture</vt:lpstr>
      <vt:lpstr>Starting Packet Capture</vt:lpstr>
      <vt:lpstr>Display Filter Syntax</vt:lpstr>
      <vt:lpstr>Display Filter Syntax</vt:lpstr>
      <vt:lpstr>Advanced Filtering</vt:lpstr>
      <vt:lpstr>Advanced Filtering</vt:lpstr>
      <vt:lpstr>Packet Analysis</vt:lpstr>
      <vt:lpstr>Packet Analysis</vt:lpstr>
      <vt:lpstr>What Do Packet Colours Mean in Wireshark?</vt:lpstr>
      <vt:lpstr>What Do Packet Colours Mean in Wireshark?</vt:lpstr>
      <vt:lpstr>What Do Packet Colours Mean in Wireshark?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Unit-3  Transmission Media</dc:title>
  <dc:creator>dolly</dc:creator>
  <cp:lastModifiedBy>Tirth</cp:lastModifiedBy>
  <cp:revision>126</cp:revision>
  <dcterms:created xsi:type="dcterms:W3CDTF">2025-05-27T12:46:57Z</dcterms:created>
  <dcterms:modified xsi:type="dcterms:W3CDTF">2026-07-28T03:30:53Z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648D3DD2B8B9146F4C313568FA38182F_42</vt:lpwstr>
  </property>
  <property fmtid="{D5CDD505-2E9C-101B-9397-08002B2CF9AE}" pid="3" name="KSOProductBuildVer">
    <vt:lpwstr>1033-6.11.0.8615</vt:lpwstr>
  </property>
</Properties>
</file>