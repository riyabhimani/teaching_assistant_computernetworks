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314" r:id="rId2"/>
    <p:sldId id="265" r:id="rId3"/>
    <p:sldId id="315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5" r:id="rId12"/>
    <p:sldId id="326" r:id="rId13"/>
    <p:sldId id="327" r:id="rId14"/>
    <p:sldId id="323" r:id="rId15"/>
    <p:sldId id="324" r:id="rId16"/>
    <p:sldId id="275" r:id="rId17"/>
  </p:sldIdLst>
  <p:sldSz cx="12192000" cy="6858000"/>
  <p:notesSz cx="6954838" cy="93091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Noto Sans Symbols" pitchFamily="2" charset="0"/>
      <p:regular r:id="rId23"/>
      <p:bold r:id="rId24"/>
    </p:embeddedFont>
    <p:embeddedFont>
      <p:font typeface="Roboto Condensed" panose="02000000000000000000" pitchFamily="2" charset="0"/>
      <p:regular r:id="rId25"/>
      <p:bold r:id="rId26"/>
      <p:italic r:id="rId27"/>
      <p:boldItalic r:id="rId28"/>
    </p:embeddedFont>
    <p:embeddedFont>
      <p:font typeface="Roboto Condensed Light" panose="02000000000000000000" pitchFamily="2" charset="0"/>
      <p:regular r:id="rId29"/>
      <p:bold r:id="rId30"/>
      <p:italic r:id="rId31"/>
      <p:boldItalic r:id="rId32"/>
    </p:embeddedFont>
    <p:embeddedFont>
      <p:font typeface="Wingdings 3" pitchFamily="2" charset="2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modifyVerifier cryptProviderType="rsaAES" cryptAlgorithmClass="hash" cryptAlgorithmType="typeAny" cryptAlgorithmSid="14" spinCount="100000" saltData="TqErnuLMNBhJYmUKNX9bAg==" hashData="8368ghn7Ps1MmymWhpizav8Caetg/D1LqWY6XAKt0FbsX6GHLa/+AF8/0hUJ3kv6I8j9AC3IeoiSRzdQ9CN7t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742"/>
    <a:srgbClr val="E6BA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6"/>
    <p:restoredTop sz="95798"/>
  </p:normalViewPr>
  <p:slideViewPr>
    <p:cSldViewPr snapToGrid="0">
      <p:cViewPr>
        <p:scale>
          <a:sx n="122" d="100"/>
          <a:sy n="122" d="100"/>
        </p:scale>
        <p:origin x="8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9466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microsoft.com/office/2007/relationships/hdphoto" Target="../media/hdphoto1.wdp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/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/>
          <p:cNvPicPr preferRelativeResize="0"/>
          <p:nvPr userDrawn="1"/>
        </p:nvPicPr>
        <p:blipFill rotWithShape="1">
          <a:blip r:embed="rId3"/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430" indent="-265430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Google Shape;58;p4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6" name="Date Placeholder 1"/>
          <p:cNvSpPr txBox="1"/>
          <p:nvPr userDrawn="1"/>
        </p:nvSpPr>
        <p:spPr>
          <a:xfrm>
            <a:off x="838200" y="6602875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8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/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/>
          <p:cNvPicPr preferRelativeResize="0"/>
          <p:nvPr userDrawn="1"/>
        </p:nvPicPr>
        <p:blipFill rotWithShape="1">
          <a:blip r:embed="rId3"/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430" indent="-265430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/>
          <p:cNvSpPr txBox="1"/>
          <p:nvPr userDrawn="1"/>
        </p:nvSpPr>
        <p:spPr>
          <a:xfrm>
            <a:off x="838200" y="6602875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2301CS501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L">
  <p:cSld name="Title and Content - Logo on BL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13" name="Google Shape;113;p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pic>
        <p:nvPicPr>
          <p:cNvPr id="114" name="Google Shape;114;p8"/>
          <p:cNvPicPr preferRelativeResize="0"/>
          <p:nvPr/>
        </p:nvPicPr>
        <p:blipFill rotWithShape="1">
          <a:blip r:embed="rId2"/>
          <a:srcRect t="86739" r="1768" b="3534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 panose="02000000000000000000"/>
              <a:buNone/>
              <a:defRPr sz="34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17" name="Google Shape;117;p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" name="Google Shape;118;p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2"/>
          <a:srcRect t="86739" r="1768" b="3534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5" name="Google Shape;125;p8"/>
          <p:cNvGrpSpPr/>
          <p:nvPr/>
        </p:nvGrpSpPr>
        <p:grpSpPr>
          <a:xfrm>
            <a:off x="218352" y="5580556"/>
            <a:ext cx="2554142" cy="828000"/>
            <a:chOff x="131178" y="5775961"/>
            <a:chExt cx="2530238" cy="820250"/>
          </a:xfrm>
        </p:grpSpPr>
        <p:pic>
          <p:nvPicPr>
            <p:cNvPr id="126" name="Google Shape;126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8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 2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TR">
  <p:cSld name="Blanck - Logo on TR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33" name="Google Shape;133;p9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34" name="Google Shape;134;p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" name="Google Shape;135;p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38" name="Google Shape;138;p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9" name="Google Shape;139;p9"/>
          <p:cNvGrpSpPr/>
          <p:nvPr/>
        </p:nvGrpSpPr>
        <p:grpSpPr>
          <a:xfrm>
            <a:off x="9637856" y="0"/>
            <a:ext cx="2554142" cy="828000"/>
            <a:chOff x="131178" y="5775961"/>
            <a:chExt cx="2530238" cy="820250"/>
          </a:xfrm>
        </p:grpSpPr>
        <p:pic>
          <p:nvPicPr>
            <p:cNvPr id="140" name="Google Shape;140;p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9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R">
  <p:cSld name="Blanck - Logo on BR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47" name="Google Shape;147;p10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48" name="Google Shape;148;p10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10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52" name="Google Shape;152;p10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3" name="Google Shape;153;p10"/>
          <p:cNvGrpSpPr/>
          <p:nvPr/>
        </p:nvGrpSpPr>
        <p:grpSpPr>
          <a:xfrm>
            <a:off x="9637856" y="0"/>
            <a:ext cx="2554142" cy="828000"/>
            <a:chOff x="131178" y="5775961"/>
            <a:chExt cx="2530238" cy="820250"/>
          </a:xfrm>
        </p:grpSpPr>
        <p:pic>
          <p:nvPicPr>
            <p:cNvPr id="154" name="Google Shape;154;p10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0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L">
  <p:cSld name="Blanck - Logo on BL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61" name="Google Shape;161;p11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62" name="Google Shape;162;p1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11"/>
          <p:cNvSpPr/>
          <p:nvPr/>
        </p:nvSpPr>
        <p:spPr>
          <a:xfrm>
            <a:off x="143018" y="6569871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66" name="Google Shape;166;p1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67" name="Google Shape;167;p11"/>
          <p:cNvGrpSpPr/>
          <p:nvPr/>
        </p:nvGrpSpPr>
        <p:grpSpPr>
          <a:xfrm>
            <a:off x="143018" y="5741871"/>
            <a:ext cx="2554142" cy="828000"/>
            <a:chOff x="131178" y="5775961"/>
            <a:chExt cx="2530238" cy="820250"/>
          </a:xfrm>
        </p:grpSpPr>
        <p:pic>
          <p:nvPicPr>
            <p:cNvPr id="168" name="Google Shape;168;p1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1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/>
          <p:cNvPicPr preferRelativeResize="0"/>
          <p:nvPr/>
        </p:nvPicPr>
        <p:blipFill rotWithShape="1">
          <a:blip r:embed="rId2"/>
          <a:srcRect r="11581" b="21179"/>
          <a:stretch>
            <a:fillRect/>
          </a:stretch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3"/>
          <a:srcRect l="79646" t="18062" r="2730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 panose="02000000000000000000"/>
              <a:buNone/>
              <a:defRPr sz="6000" b="1">
                <a:solidFill>
                  <a:srgbClr val="1D3064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/>
          <a:srcRect r="11581" b="21179"/>
          <a:stretch>
            <a:fillRect/>
          </a:stretch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4"/>
          <a:srcRect l="79646" t="18062" r="2730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pic>
        <p:nvPicPr>
          <p:cNvPr id="44" name="Google Shape;44;p3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169807" y="5866956"/>
            <a:ext cx="1778000" cy="80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51730" y="244174"/>
            <a:ext cx="3395148" cy="144286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/>
          <a:stretch/>
        </p:blipFill>
        <p:spPr>
          <a:xfrm>
            <a:off x="959767" y="3827036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370FB6-7031-0A4B-838F-03DBE8CD8D6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946227-18C8-F84C-AE02-FA328FFAD9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9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Condensed" panose="02000000000000000000"/>
              <a:buNone/>
              <a:defRPr sz="44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hiark.greenend.org.uk/~sgtatham/putty/latest.html?utm_source=chatgpt.co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host.ua/en/wiki/administration/ssh/ssh-connect" TargetMode="External"/><Relationship Id="rId2" Type="http://schemas.openxmlformats.org/officeDocument/2006/relationships/hyperlink" Target="https://www.makeuseof.com/enable-telnet-window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aeldung.com/linux/telnet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47E4E-823D-614A-B4B7-AC128FF38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242" y="1103123"/>
            <a:ext cx="8297907" cy="2578780"/>
          </a:xfrm>
        </p:spPr>
        <p:txBody>
          <a:bodyPr/>
          <a:lstStyle/>
          <a:p>
            <a:r>
              <a:rPr lang="en-US" sz="4400" b="0" dirty="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LAB-6</a:t>
            </a:r>
            <a:br>
              <a:rPr lang="en-US" sz="4400" dirty="0"/>
            </a:br>
            <a:r>
              <a:rPr lang="en-US" sz="4400" dirty="0"/>
              <a:t>Telnet &amp; SSH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BD4442-5C83-5F4A-8AEA-1614164C8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maulik.trivedi@darshan.ac.in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07D4B6-0B64-6A44-BA9C-B9BF69DC2E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+91-9998265805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4F568A-30BE-2049-9622-DC2108A44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Computer Engineering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1A5B73-F4FC-AC48-953E-993670B73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Prof. Maulik D Trivedi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3BE456-33E7-B748-B5B3-F501CA80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#2301CS501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2831386-25BD-CB4A-8E69-CCA21F5039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5012AC-5C43-CE81-D61F-5FA20BB1D897}"/>
              </a:ext>
            </a:extLst>
          </p:cNvPr>
          <p:cNvSpPr txBox="1"/>
          <p:nvPr/>
        </p:nvSpPr>
        <p:spPr>
          <a:xfrm>
            <a:off x="6096000" y="6460218"/>
            <a:ext cx="6100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Disclaimer: The images used in this presentation are sourced solely for educational and nonprofit purposes. The author of this presentation asserts no ownership or copyright claims over them."</a:t>
            </a:r>
          </a:p>
        </p:txBody>
      </p:sp>
    </p:spTree>
    <p:extLst>
      <p:ext uri="{BB962C8B-B14F-4D97-AF65-F5344CB8AC3E}">
        <p14:creationId xmlns:p14="http://schemas.microsoft.com/office/powerpoint/2010/main" val="23549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is Remote Access?</a:t>
            </a:r>
            <a:endParaRPr lang="en-US" dirty="0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472241" cy="5590565"/>
          </a:xfrm>
        </p:spPr>
        <p:txBody>
          <a:bodyPr/>
          <a:lstStyle/>
          <a:p>
            <a:r>
              <a:rPr lang="en-IN" dirty="0"/>
              <a:t>Remote access allows us to </a:t>
            </a:r>
            <a:r>
              <a:rPr lang="en-IN" dirty="0">
                <a:solidFill>
                  <a:srgbClr val="FF0000"/>
                </a:solidFill>
              </a:rPr>
              <a:t>control another computer over a network</a:t>
            </a:r>
            <a:r>
              <a:rPr lang="en-IN" dirty="0"/>
              <a:t>.</a:t>
            </a:r>
          </a:p>
          <a:p>
            <a:r>
              <a:rPr lang="en-IN" dirty="0"/>
              <a:t>It is widely used for </a:t>
            </a:r>
            <a:r>
              <a:rPr lang="en-IN" dirty="0">
                <a:solidFill>
                  <a:srgbClr val="FF0000"/>
                </a:solidFill>
              </a:rPr>
              <a:t>server administration, cloud management</a:t>
            </a:r>
            <a:r>
              <a:rPr lang="en-IN" dirty="0"/>
              <a:t>, network configuration, IoT devices (Raspberry Pi), and virtual machines</a:t>
            </a:r>
            <a:r>
              <a:rPr lang="en-IN"/>
              <a:t>. </a:t>
            </a:r>
          </a:p>
          <a:p>
            <a:endParaRPr lang="en-IN" dirty="0"/>
          </a:p>
          <a:p>
            <a:r>
              <a:rPr lang="en-IN" b="1" dirty="0"/>
              <a:t>Examples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Linux Server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Cloud Server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Raspberry Pi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Cisco Router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Virtual Machine</a:t>
            </a:r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28F0-1026-EEE0-9909-167B290C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Telnet?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5D78D-6EBA-59D0-6FF5-0200E6489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Telnet</a:t>
            </a:r>
            <a:r>
              <a:rPr lang="en-IN" dirty="0"/>
              <a:t> is a protocol that allows users to </a:t>
            </a:r>
            <a:r>
              <a:rPr lang="en-IN" dirty="0">
                <a:solidFill>
                  <a:srgbClr val="FF0000"/>
                </a:solidFill>
              </a:rPr>
              <a:t>remotely access and manage</a:t>
            </a:r>
            <a:r>
              <a:rPr lang="en-IN" dirty="0"/>
              <a:t> another computer over a network using a command-line interface.</a:t>
            </a:r>
          </a:p>
          <a:p>
            <a:r>
              <a:rPr lang="en-IN" dirty="0">
                <a:solidFill>
                  <a:srgbClr val="FF0000"/>
                </a:solidFill>
              </a:rPr>
              <a:t>Application Layer (Layer 7) </a:t>
            </a:r>
            <a:r>
              <a:rPr lang="en-IN" dirty="0"/>
              <a:t>remote access protocol.</a:t>
            </a:r>
          </a:p>
          <a:p>
            <a:r>
              <a:rPr lang="en-IN" dirty="0"/>
              <a:t>Uses </a:t>
            </a:r>
            <a:r>
              <a:rPr lang="en-IN" dirty="0">
                <a:solidFill>
                  <a:srgbClr val="FF0000"/>
                </a:solidFill>
              </a:rPr>
              <a:t>TCP Port 23 </a:t>
            </a:r>
            <a:r>
              <a:rPr lang="en-IN" dirty="0"/>
              <a:t>for communication. </a:t>
            </a:r>
          </a:p>
          <a:p>
            <a:r>
              <a:rPr lang="en-IN" dirty="0"/>
              <a:t>Transmits </a:t>
            </a:r>
            <a:r>
              <a:rPr lang="en-IN" dirty="0">
                <a:solidFill>
                  <a:srgbClr val="FF0000"/>
                </a:solidFill>
              </a:rPr>
              <a:t>all data, including usernames and passwords, in plain text</a:t>
            </a:r>
            <a:r>
              <a:rPr lang="en-IN" dirty="0"/>
              <a:t>. </a:t>
            </a:r>
          </a:p>
          <a:p>
            <a:r>
              <a:rPr lang="en-IN" dirty="0">
                <a:solidFill>
                  <a:srgbClr val="FF0000"/>
                </a:solidFill>
              </a:rPr>
              <a:t>Does not use encryption</a:t>
            </a:r>
            <a:r>
              <a:rPr lang="en-IN" dirty="0"/>
              <a:t>, making it vulnerable to packet sniffing and eavesdropping. </a:t>
            </a:r>
          </a:p>
          <a:p>
            <a:r>
              <a:rPr lang="en-IN" dirty="0"/>
              <a:t>Commonly used in the past for server and network device management. Today, it has been largely </a:t>
            </a:r>
            <a:r>
              <a:rPr lang="en-IN" dirty="0">
                <a:solidFill>
                  <a:srgbClr val="FF0000"/>
                </a:solidFill>
              </a:rPr>
              <a:t>replaced by SSH due to security concerns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899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1957-8770-24BB-E679-0869BF8D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Telnet in </a:t>
            </a:r>
            <a:r>
              <a:rPr lang="en-US" dirty="0" err="1"/>
              <a:t>WireShark</a:t>
            </a:r>
            <a:endParaRPr lang="en-US" dirty="0"/>
          </a:p>
        </p:txBody>
      </p:sp>
      <p:pic>
        <p:nvPicPr>
          <p:cNvPr id="1026" name="Picture 2" descr="Wireshark for Pentester: Password Sniffing">
            <a:extLst>
              <a:ext uri="{FF2B5EF4-FFF2-40B4-BE49-F238E27FC236}">
                <a16:creationId xmlns:a16="http://schemas.microsoft.com/office/drawing/2014/main" id="{7049F435-2CF5-C130-5552-2AF80A1F03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441" y="863600"/>
            <a:ext cx="6533119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87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C8C2-D852-59AD-B80F-73E7767F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Telnet Client</a:t>
            </a:r>
          </a:p>
        </p:txBody>
      </p:sp>
      <p:pic>
        <p:nvPicPr>
          <p:cNvPr id="2050" name="Picture 2" descr="How to Use telnet Command in Linux? (With Practical Examples)">
            <a:extLst>
              <a:ext uri="{FF2B5EF4-FFF2-40B4-BE49-F238E27FC236}">
                <a16:creationId xmlns:a16="http://schemas.microsoft.com/office/drawing/2014/main" id="{2DFD9583-0C80-8221-5BAF-4F6D196031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1030287"/>
            <a:ext cx="92710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84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0F16-5CB4-5BA2-489C-50B0F56D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SSH?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F5CD3-4218-27BD-2C99-6A672C1F4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SSH (</a:t>
            </a:r>
            <a:r>
              <a:rPr lang="en-IN" dirty="0">
                <a:solidFill>
                  <a:srgbClr val="FF0000"/>
                </a:solidFill>
              </a:rPr>
              <a:t>Secure Shell</a:t>
            </a:r>
            <a:r>
              <a:rPr lang="en-IN" dirty="0"/>
              <a:t>) is a </a:t>
            </a:r>
            <a:r>
              <a:rPr lang="en-IN" dirty="0">
                <a:solidFill>
                  <a:srgbClr val="FF0000"/>
                </a:solidFill>
              </a:rPr>
              <a:t>cryptographic network protocol </a:t>
            </a:r>
            <a:r>
              <a:rPr lang="en-IN" dirty="0"/>
              <a:t>that enables secure remote login, command execution, and file transfer between networked devices. </a:t>
            </a:r>
          </a:p>
          <a:p>
            <a:r>
              <a:rPr lang="en-IN" dirty="0"/>
              <a:t>Uses </a:t>
            </a:r>
            <a:r>
              <a:rPr lang="en-IN" dirty="0">
                <a:solidFill>
                  <a:srgbClr val="FF0000"/>
                </a:solidFill>
              </a:rPr>
              <a:t>RSA public-key cryptography </a:t>
            </a:r>
            <a:r>
              <a:rPr lang="en-IN" dirty="0"/>
              <a:t>to provide secure authentication and establish encrypted communication.</a:t>
            </a:r>
          </a:p>
          <a:p>
            <a:r>
              <a:rPr lang="en-IN" dirty="0"/>
              <a:t>It uses </a:t>
            </a:r>
            <a:r>
              <a:rPr lang="en-IN" dirty="0">
                <a:solidFill>
                  <a:srgbClr val="FF0000"/>
                </a:solidFill>
              </a:rPr>
              <a:t>TCP Port 22</a:t>
            </a:r>
            <a:r>
              <a:rPr lang="en-IN" dirty="0"/>
              <a:t> and protects communication through encryption, making it the standard protocol for secure remote administration.</a:t>
            </a:r>
          </a:p>
          <a:p>
            <a:r>
              <a:rPr lang="en-IN" dirty="0"/>
              <a:t>Encrypts all transmitted data to protect against eavesdropping and attacks. </a:t>
            </a:r>
          </a:p>
          <a:p>
            <a:r>
              <a:rPr lang="en-IN" dirty="0"/>
              <a:t>Ensures </a:t>
            </a:r>
            <a:r>
              <a:rPr lang="en-IN" dirty="0">
                <a:solidFill>
                  <a:srgbClr val="FF0000"/>
                </a:solidFill>
              </a:rPr>
              <a:t>confidentiality, integrity, and authentication</a:t>
            </a:r>
            <a:r>
              <a:rPr lang="en-IN" dirty="0"/>
              <a:t> during communication. Supports password-based and public key-based authentication. Enables secure file transfers using SCP and SFTP.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42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33A8E-6DDD-1C6F-4251-5D763906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SSH In </a:t>
            </a:r>
            <a:r>
              <a:rPr lang="en-US" dirty="0" err="1"/>
              <a:t>WireShark</a:t>
            </a:r>
            <a:endParaRPr lang="en-US" dirty="0"/>
          </a:p>
        </p:txBody>
      </p:sp>
      <p:pic>
        <p:nvPicPr>
          <p:cNvPr id="3074" name="Picture 2" descr="Le protocole Telnet pour les débutants - Réseau informatique">
            <a:extLst>
              <a:ext uri="{FF2B5EF4-FFF2-40B4-BE49-F238E27FC236}">
                <a16:creationId xmlns:a16="http://schemas.microsoft.com/office/drawing/2014/main" id="{D900CB46-D4BB-906C-408F-F5F1357DBD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998537"/>
            <a:ext cx="10160000" cy="532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773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CBDA-EA89-A9F9-6F0F-213A4DC5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SSH Server (Linux/Kali/Ubuntu)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3EBDA-190F-27E9-6AD7-23735644F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Install SSH Server</a:t>
            </a:r>
          </a:p>
          <a:p>
            <a:pPr lvl="1"/>
            <a:r>
              <a:rPr lang="en-IN" dirty="0" err="1"/>
              <a:t>sudo</a:t>
            </a:r>
            <a:r>
              <a:rPr lang="en-IN" dirty="0"/>
              <a:t> apt update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openssh</a:t>
            </a:r>
            <a:r>
              <a:rPr lang="en-US" dirty="0"/>
              <a:t>-server –y</a:t>
            </a:r>
          </a:p>
          <a:p>
            <a:r>
              <a:rPr lang="en-IN" dirty="0">
                <a:solidFill>
                  <a:srgbClr val="FF0000"/>
                </a:solidFill>
              </a:rPr>
              <a:t>Start Service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ssh</a:t>
            </a:r>
            <a:endParaRPr lang="en-IN" dirty="0"/>
          </a:p>
          <a:p>
            <a:pPr lvl="1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start </a:t>
            </a:r>
            <a:r>
              <a:rPr lang="en-US" dirty="0" err="1"/>
              <a:t>ssh</a:t>
            </a:r>
            <a:endParaRPr lang="en-US" dirty="0"/>
          </a:p>
          <a:p>
            <a:r>
              <a:rPr lang="en-IN" dirty="0">
                <a:solidFill>
                  <a:srgbClr val="FF0000"/>
                </a:solidFill>
              </a:rPr>
              <a:t>Verify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status </a:t>
            </a:r>
            <a:r>
              <a:rPr lang="en-US" dirty="0" err="1"/>
              <a:t>ssh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615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E764-9FF4-1BA2-2A3D-3A26EEB9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Find SSH Server 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BF479-8324-C1D5-918E-795E8BA3A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Get the IP Address of the SSH server</a:t>
            </a:r>
          </a:p>
          <a:p>
            <a:pPr lvl="1"/>
            <a:r>
              <a:rPr lang="en-US" dirty="0" err="1"/>
              <a:t>ip</a:t>
            </a:r>
            <a:r>
              <a:rPr lang="en-US" dirty="0"/>
              <a:t> a</a:t>
            </a:r>
          </a:p>
          <a:p>
            <a:pPr lvl="1"/>
            <a:r>
              <a:rPr lang="en-US" dirty="0"/>
              <a:t>hostname -I</a:t>
            </a:r>
          </a:p>
          <a:p>
            <a:r>
              <a:rPr lang="en-US" dirty="0">
                <a:solidFill>
                  <a:srgbClr val="FF0000"/>
                </a:solidFill>
              </a:rPr>
              <a:t>Example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192.168.121.111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E45789-DDF3-6412-9067-71F587088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22" y="711201"/>
            <a:ext cx="10239040" cy="389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2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F533B-FCF6-8022-6719-590C7996B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 Using SSH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C9875-BCE5-93DF-7B7D-2100A8CE1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Connect SSH Server</a:t>
            </a:r>
          </a:p>
          <a:p>
            <a:pPr lvl="1"/>
            <a:r>
              <a:rPr lang="en-US" dirty="0" err="1"/>
              <a:t>ssh</a:t>
            </a:r>
            <a:r>
              <a:rPr lang="en-US" dirty="0"/>
              <a:t> username@135.148.98.235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D9940-26D6-C54C-1AFB-24368BD14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653" y="863444"/>
            <a:ext cx="9752693" cy="336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51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77F2-3270-3FFD-82D3-BB5A97C7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Putty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A52CA-CC92-D898-0429-BC60F8A75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Linux (Debian)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 apt install putty</a:t>
            </a:r>
          </a:p>
          <a:p>
            <a:r>
              <a:rPr lang="en-US" dirty="0">
                <a:solidFill>
                  <a:srgbClr val="FF0000"/>
                </a:solidFill>
              </a:rPr>
              <a:t>MacOS</a:t>
            </a:r>
          </a:p>
          <a:p>
            <a:pPr lvl="1"/>
            <a:r>
              <a:rPr lang="en-US" dirty="0"/>
              <a:t>brew install putty</a:t>
            </a:r>
          </a:p>
          <a:p>
            <a:r>
              <a:rPr lang="en-US" dirty="0">
                <a:solidFill>
                  <a:srgbClr val="FF0000"/>
                </a:solidFill>
              </a:rPr>
              <a:t>Windows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www.chiark.greenend.org.uk</a:t>
            </a:r>
            <a:r>
              <a:rPr lang="en-US" dirty="0">
                <a:hlinkClick r:id="rId2"/>
              </a:rPr>
              <a:t>/~</a:t>
            </a:r>
            <a:r>
              <a:rPr lang="en-US" dirty="0" err="1">
                <a:hlinkClick r:id="rId2"/>
              </a:rPr>
              <a:t>sgtatham</a:t>
            </a:r>
            <a:r>
              <a:rPr lang="en-US" dirty="0">
                <a:hlinkClick r:id="rId2"/>
              </a:rPr>
              <a:t>/putty/</a:t>
            </a:r>
            <a:r>
              <a:rPr lang="en-US" dirty="0" err="1">
                <a:hlinkClick r:id="rId2"/>
              </a:rPr>
              <a:t>latest.html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272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36A12-0AFA-A849-A1A3-CB4E20426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SSH with Putty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CE587-5CFA-39D0-161D-FC9D2A431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464"/>
            <a:ext cx="5018889" cy="5590565"/>
          </a:xfrm>
        </p:spPr>
        <p:txBody>
          <a:bodyPr/>
          <a:lstStyle/>
          <a:p>
            <a:r>
              <a:rPr lang="en-IN" dirty="0"/>
              <a:t>Enter the </a:t>
            </a:r>
            <a:r>
              <a:rPr lang="en-IN" b="1" dirty="0">
                <a:solidFill>
                  <a:srgbClr val="FF0000"/>
                </a:solidFill>
              </a:rPr>
              <a:t>Server IP Address</a:t>
            </a:r>
            <a:r>
              <a:rPr lang="en-IN" dirty="0"/>
              <a:t> in </a:t>
            </a:r>
            <a:r>
              <a:rPr lang="en-IN" b="1" dirty="0">
                <a:solidFill>
                  <a:srgbClr val="FF0000"/>
                </a:solidFill>
              </a:rPr>
              <a:t>Host Name</a:t>
            </a:r>
            <a:r>
              <a:rPr lang="en-IN" dirty="0"/>
              <a:t>. </a:t>
            </a:r>
          </a:p>
          <a:p>
            <a:r>
              <a:rPr lang="en-IN" dirty="0"/>
              <a:t>Select the </a:t>
            </a:r>
            <a:r>
              <a:rPr lang="en-IN" b="1" dirty="0">
                <a:solidFill>
                  <a:srgbClr val="FF0000"/>
                </a:solidFill>
              </a:rPr>
              <a:t>Connection Type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(</a:t>
            </a:r>
            <a:r>
              <a:rPr lang="en-IN" b="1" dirty="0">
                <a:solidFill>
                  <a:srgbClr val="FF0000"/>
                </a:solidFill>
              </a:rPr>
              <a:t>SSH</a:t>
            </a:r>
            <a:r>
              <a:rPr lang="en-IN" dirty="0"/>
              <a:t> or </a:t>
            </a:r>
            <a:r>
              <a:rPr lang="en-IN" b="1" dirty="0">
                <a:solidFill>
                  <a:srgbClr val="FF0000"/>
                </a:solidFill>
              </a:rPr>
              <a:t>Telnet</a:t>
            </a:r>
            <a:r>
              <a:rPr lang="en-IN" dirty="0"/>
              <a:t>). </a:t>
            </a:r>
          </a:p>
          <a:p>
            <a:r>
              <a:rPr lang="en-IN" dirty="0"/>
              <a:t>Verify the </a:t>
            </a:r>
            <a:r>
              <a:rPr lang="en-IN" b="1" dirty="0">
                <a:solidFill>
                  <a:srgbClr val="FF0000"/>
                </a:solidFill>
              </a:rPr>
              <a:t>Port Number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(</a:t>
            </a:r>
            <a:r>
              <a:rPr lang="en-IN" b="1" dirty="0">
                <a:solidFill>
                  <a:srgbClr val="FF0000"/>
                </a:solidFill>
              </a:rPr>
              <a:t>22</a:t>
            </a:r>
            <a:r>
              <a:rPr lang="en-IN" dirty="0"/>
              <a:t> for SSH, </a:t>
            </a:r>
            <a:r>
              <a:rPr lang="en-IN" b="1" dirty="0">
                <a:solidFill>
                  <a:srgbClr val="FF0000"/>
                </a:solidFill>
              </a:rPr>
              <a:t>23</a:t>
            </a:r>
            <a:r>
              <a:rPr lang="en-IN" dirty="0"/>
              <a:t> for Telnet). </a:t>
            </a:r>
          </a:p>
          <a:p>
            <a:r>
              <a:rPr lang="en-IN" dirty="0"/>
              <a:t>Click </a:t>
            </a:r>
            <a:r>
              <a:rPr lang="en-IN" b="1" dirty="0">
                <a:solidFill>
                  <a:srgbClr val="FF0000"/>
                </a:solidFill>
              </a:rPr>
              <a:t>Open</a:t>
            </a:r>
            <a:r>
              <a:rPr lang="en-IN" dirty="0"/>
              <a:t> to establish the connection. </a:t>
            </a:r>
          </a:p>
          <a:p>
            <a:r>
              <a:rPr lang="en-IN" dirty="0"/>
              <a:t>Enter your </a:t>
            </a:r>
            <a:r>
              <a:rPr lang="en-IN" b="1" dirty="0">
                <a:solidFill>
                  <a:srgbClr val="FF0000"/>
                </a:solidFill>
              </a:rPr>
              <a:t>username</a:t>
            </a:r>
            <a:r>
              <a:rPr lang="en-IN" dirty="0"/>
              <a:t> and </a:t>
            </a:r>
            <a:r>
              <a:rPr lang="en-IN" b="1" dirty="0">
                <a:solidFill>
                  <a:srgbClr val="FF0000"/>
                </a:solidFill>
              </a:rPr>
              <a:t>password</a:t>
            </a:r>
            <a:r>
              <a:rPr lang="en-IN" dirty="0"/>
              <a:t> when prompted.</a:t>
            </a:r>
            <a:endParaRPr lang="en-US" dirty="0"/>
          </a:p>
        </p:txBody>
      </p:sp>
      <p:pic>
        <p:nvPicPr>
          <p:cNvPr id="6150" name="Picture 6" descr="PuTTy's SSH option">
            <a:extLst>
              <a:ext uri="{FF2B5EF4-FFF2-40B4-BE49-F238E27FC236}">
                <a16:creationId xmlns:a16="http://schemas.microsoft.com/office/drawing/2014/main" id="{5994779B-2668-B48F-1416-12B559BD5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131" y="850900"/>
            <a:ext cx="5334000" cy="515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90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AE8E-23E8-4B60-5387-FCB17F91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Putty Cont.</a:t>
            </a:r>
          </a:p>
        </p:txBody>
      </p:sp>
      <p:pic>
        <p:nvPicPr>
          <p:cNvPr id="7170" name="Picture 2" descr="PuTTY SSH terminal window">
            <a:extLst>
              <a:ext uri="{FF2B5EF4-FFF2-40B4-BE49-F238E27FC236}">
                <a16:creationId xmlns:a16="http://schemas.microsoft.com/office/drawing/2014/main" id="{488CBF85-A6E8-053F-0F3C-3ED3D8C888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044" y="863600"/>
            <a:ext cx="8239912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166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751B-81BE-A3DD-73FC-8FEE9355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Useful Remote Commands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5C50DF-393C-D433-2A0B-5C988573E2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055040"/>
              </p:ext>
            </p:extLst>
          </p:nvPr>
        </p:nvGraphicFramePr>
        <p:xfrm>
          <a:off x="131764" y="1391920"/>
          <a:ext cx="11928472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118">
                  <a:extLst>
                    <a:ext uri="{9D8B030D-6E8A-4147-A177-3AD203B41FA5}">
                      <a16:colId xmlns:a16="http://schemas.microsoft.com/office/drawing/2014/main" val="2468197379"/>
                    </a:ext>
                  </a:extLst>
                </a:gridCol>
                <a:gridCol w="2982118">
                  <a:extLst>
                    <a:ext uri="{9D8B030D-6E8A-4147-A177-3AD203B41FA5}">
                      <a16:colId xmlns:a16="http://schemas.microsoft.com/office/drawing/2014/main" val="109955815"/>
                    </a:ext>
                  </a:extLst>
                </a:gridCol>
                <a:gridCol w="2982118">
                  <a:extLst>
                    <a:ext uri="{9D8B030D-6E8A-4147-A177-3AD203B41FA5}">
                      <a16:colId xmlns:a16="http://schemas.microsoft.com/office/drawing/2014/main" val="1383792289"/>
                    </a:ext>
                  </a:extLst>
                </a:gridCol>
                <a:gridCol w="2982118">
                  <a:extLst>
                    <a:ext uri="{9D8B030D-6E8A-4147-A177-3AD203B41FA5}">
                      <a16:colId xmlns:a16="http://schemas.microsoft.com/office/drawing/2014/main" val="1552365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14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pwd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Print Working Directory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pwd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Displays the current directory path.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35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List Directory Contents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Shows all files and folders in the current directory.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223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Change Directory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cd &lt;</a:t>
                      </a:r>
                      <a:r>
                        <a:rPr lang="en-IN" dirty="0" err="1"/>
                        <a:t>directory_name</a:t>
                      </a:r>
                      <a:r>
                        <a:rPr lang="en-IN" dirty="0"/>
                        <a:t>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Moves to another directory. Example: cd Documents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98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mkdir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Make Directory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mkdir</a:t>
                      </a:r>
                      <a:r>
                        <a:rPr lang="en-IN" dirty="0"/>
                        <a:t> &lt;</a:t>
                      </a:r>
                      <a:r>
                        <a:rPr lang="en-IN" dirty="0" err="1"/>
                        <a:t>folder_name</a:t>
                      </a:r>
                      <a:r>
                        <a:rPr lang="en-IN" dirty="0"/>
                        <a:t>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Creates a new folder. Example: </a:t>
                      </a:r>
                      <a:r>
                        <a:rPr lang="en-IN" dirty="0" err="1"/>
                        <a:t>mkdir</a:t>
                      </a:r>
                      <a:r>
                        <a:rPr lang="en-IN" dirty="0"/>
                        <a:t> Lab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65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touch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Create File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touch &lt;</a:t>
                      </a:r>
                      <a:r>
                        <a:rPr lang="en-IN" dirty="0" err="1"/>
                        <a:t>file_name</a:t>
                      </a:r>
                      <a:r>
                        <a:rPr lang="en-IN" dirty="0"/>
                        <a:t>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Creates an empty file. Example: touch </a:t>
                      </a:r>
                      <a:r>
                        <a:rPr lang="en-IN" dirty="0" err="1"/>
                        <a:t>demo.txt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071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Editing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nano &lt;</a:t>
                      </a:r>
                      <a:r>
                        <a:rPr lang="en-US" dirty="0" err="1"/>
                        <a:t>file_name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Opens File in Editor.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586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Prints File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 &lt;</a:t>
                      </a:r>
                      <a:r>
                        <a:rPr lang="en-US" dirty="0" err="1"/>
                        <a:t>file_name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Displays content of file.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44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whoami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whoami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Displays the username of the logged-in user.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148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92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816B-B520-2A3B-747E-E931C9791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7CB5B-F355-57BF-139D-B0E89D8E2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install, configure, and establish a Telnet connection</a:t>
            </a:r>
            <a:r>
              <a:rPr lang="en-IN" dirty="0"/>
              <a:t> between two systems using the provided reference materials.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Reference Materials :</a:t>
            </a:r>
          </a:p>
          <a:p>
            <a:r>
              <a:rPr lang="en-IN" dirty="0"/>
              <a:t>📖 </a:t>
            </a:r>
            <a:r>
              <a:rPr lang="en-IN" b="1" dirty="0"/>
              <a:t>Windows – Telnet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hlinkClick r:id="rId2"/>
              </a:rPr>
              <a:t>https://</a:t>
            </a:r>
            <a:r>
              <a:rPr lang="en-IN" dirty="0" err="1">
                <a:hlinkClick r:id="rId2"/>
              </a:rPr>
              <a:t>www.makeuseof.com</a:t>
            </a:r>
            <a:r>
              <a:rPr lang="en-IN" dirty="0">
                <a:hlinkClick r:id="rId2"/>
              </a:rPr>
              <a:t>/enable-telnet-windows/</a:t>
            </a:r>
            <a:endParaRPr lang="en-IN" dirty="0"/>
          </a:p>
          <a:p>
            <a:r>
              <a:rPr lang="en-IN" b="1" dirty="0"/>
              <a:t>📖 How to use Putty: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hlinkClick r:id="rId3"/>
              </a:rPr>
              <a:t>https://</a:t>
            </a:r>
            <a:r>
              <a:rPr lang="en-IN" dirty="0" err="1">
                <a:hlinkClick r:id="rId3"/>
              </a:rPr>
              <a:t>thehost.ua</a:t>
            </a:r>
            <a:r>
              <a:rPr lang="en-IN" dirty="0">
                <a:hlinkClick r:id="rId3"/>
              </a:rPr>
              <a:t>/</a:t>
            </a:r>
            <a:r>
              <a:rPr lang="en-IN" dirty="0" err="1">
                <a:hlinkClick r:id="rId3"/>
              </a:rPr>
              <a:t>en</a:t>
            </a:r>
            <a:r>
              <a:rPr lang="en-IN" dirty="0">
                <a:hlinkClick r:id="rId3"/>
              </a:rPr>
              <a:t>/wiki/administration/</a:t>
            </a:r>
            <a:r>
              <a:rPr lang="en-IN" dirty="0" err="1">
                <a:hlinkClick r:id="rId3"/>
              </a:rPr>
              <a:t>ssh</a:t>
            </a:r>
            <a:r>
              <a:rPr lang="en-IN" dirty="0">
                <a:hlinkClick r:id="rId3"/>
              </a:rPr>
              <a:t>/</a:t>
            </a:r>
            <a:r>
              <a:rPr lang="en-IN" dirty="0" err="1">
                <a:hlinkClick r:id="rId3"/>
              </a:rPr>
              <a:t>ssh</a:t>
            </a:r>
            <a:r>
              <a:rPr lang="en-IN" dirty="0">
                <a:hlinkClick r:id="rId3"/>
              </a:rPr>
              <a:t>-connect</a:t>
            </a:r>
            <a:endParaRPr lang="en-IN" dirty="0"/>
          </a:p>
          <a:p>
            <a:r>
              <a:rPr lang="en-IN" dirty="0"/>
              <a:t>📖 </a:t>
            </a:r>
            <a:r>
              <a:rPr lang="en-IN" b="1" dirty="0"/>
              <a:t>Linux - Telnet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hlinkClick r:id="rId4"/>
              </a:rPr>
              <a:t>https://www.baeldung.com/linux/telnet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398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 panose="02000000000000000000"/>
              <a:buNone/>
            </a:pPr>
            <a:r>
              <a:rPr lang="en-US" sz="6000" b="0"/>
              <a:t>Thank </a:t>
            </a:r>
            <a:r>
              <a:rPr lang="en-US" b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rgbClr val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681</Words>
  <Application>Microsoft Macintosh PowerPoint</Application>
  <PresentationFormat>Widescreen</PresentationFormat>
  <Paragraphs>131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Noto Sans Symbols</vt:lpstr>
      <vt:lpstr>Roboto Condensed Light</vt:lpstr>
      <vt:lpstr>Arial</vt:lpstr>
      <vt:lpstr>Calibri</vt:lpstr>
      <vt:lpstr>Roboto Condensed</vt:lpstr>
      <vt:lpstr>Wingdings</vt:lpstr>
      <vt:lpstr>Wingdings 3</vt:lpstr>
      <vt:lpstr>VIdeo Lecture 16x9 Light Template</vt:lpstr>
      <vt:lpstr>LAB-6 Telnet &amp; SSH</vt:lpstr>
      <vt:lpstr>What is Remote Access?</vt:lpstr>
      <vt:lpstr>What is Telnet?</vt:lpstr>
      <vt:lpstr>Telnet in WireShark</vt:lpstr>
      <vt:lpstr>Connecting Telnet Client</vt:lpstr>
      <vt:lpstr>What is SSH?</vt:lpstr>
      <vt:lpstr>SSH In WireShark</vt:lpstr>
      <vt:lpstr>Installing SSH Server (Linux/Kali/Ubuntu)</vt:lpstr>
      <vt:lpstr>Find SSH Server IP</vt:lpstr>
      <vt:lpstr>Connect Using SSH</vt:lpstr>
      <vt:lpstr>Installing Putty</vt:lpstr>
      <vt:lpstr>Connecting SSH with Putty</vt:lpstr>
      <vt:lpstr>Putty Cont.</vt:lpstr>
      <vt:lpstr>Useful Remote Commands</vt:lpstr>
      <vt:lpstr>Exercise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  Transmission Media</dc:title>
  <dc:creator>dolly</dc:creator>
  <cp:lastModifiedBy>Tirth</cp:lastModifiedBy>
  <cp:revision>122</cp:revision>
  <dcterms:created xsi:type="dcterms:W3CDTF">2025-05-27T12:46:57Z</dcterms:created>
  <dcterms:modified xsi:type="dcterms:W3CDTF">2026-07-21T03:39:42Z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648D3DD2B8B9146F4C313568FA38182F_42</vt:lpwstr>
  </property>
  <property fmtid="{D5CDD505-2E9C-101B-9397-08002B2CF9AE}" pid="3" name="KSOProductBuildVer">
    <vt:lpwstr>1033-6.11.0.8615</vt:lpwstr>
  </property>
</Properties>
</file>