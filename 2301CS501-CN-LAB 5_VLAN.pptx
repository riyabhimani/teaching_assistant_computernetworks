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374" r:id="rId2"/>
    <p:sldId id="257" r:id="rId3"/>
    <p:sldId id="371" r:id="rId4"/>
    <p:sldId id="372" r:id="rId5"/>
    <p:sldId id="373" r:id="rId6"/>
    <p:sldId id="259" r:id="rId7"/>
    <p:sldId id="260" r:id="rId8"/>
    <p:sldId id="261" r:id="rId9"/>
    <p:sldId id="263" r:id="rId10"/>
    <p:sldId id="264" r:id="rId11"/>
    <p:sldId id="265" r:id="rId12"/>
    <p:sldId id="267" r:id="rId13"/>
    <p:sldId id="268" r:id="rId14"/>
    <p:sldId id="266" r:id="rId15"/>
    <p:sldId id="271" r:id="rId16"/>
    <p:sldId id="272" r:id="rId17"/>
    <p:sldId id="273" r:id="rId18"/>
    <p:sldId id="274" r:id="rId19"/>
    <p:sldId id="275" r:id="rId20"/>
  </p:sldIdLst>
  <p:sldSz cx="12192000" cy="6858000"/>
  <p:notesSz cx="6954838" cy="9309100"/>
  <p:embeddedFontLst>
    <p:embeddedFont>
      <p:font typeface="Lobster" panose="00000500000000000000" pitchFamily="2" charset="0"/>
      <p:regular r:id="rId22"/>
    </p:embeddedFont>
    <p:embeddedFont>
      <p:font typeface="Noto Sans Symbols" panose="020B0604020202020204" charset="0"/>
      <p:regular r:id="rId23"/>
      <p:bold r:id="rId24"/>
    </p:embeddedFont>
    <p:embeddedFont>
      <p:font typeface="Roboto" panose="02000000000000000000" pitchFamily="2" charset="0"/>
      <p:regular r:id="rId25"/>
      <p:bold r:id="rId26"/>
      <p:italic r:id="rId27"/>
      <p:boldItalic r:id="rId28"/>
    </p:embeddedFont>
    <p:embeddedFont>
      <p:font typeface="Roboto Condensed" panose="02000000000000000000" pitchFamily="2" charset="0"/>
      <p:regular r:id="rId29"/>
      <p:bold r:id="rId30"/>
      <p:italic r:id="rId31"/>
      <p:boldItalic r:id="rId32"/>
    </p:embeddedFont>
    <p:embeddedFont>
      <p:font typeface="Roboto Condensed Light" panose="02000000000000000000" pitchFamily="2" charset="0"/>
      <p:regular r:id="rId33"/>
      <p:bold r:id="rId34"/>
      <p:italic r:id="rId35"/>
      <p:boldItalic r:id="rId36"/>
    </p:embeddedFont>
    <p:embeddedFont>
      <p:font typeface="Wingdings 3" panose="05040102010807070707" pitchFamily="18" charset="2"/>
      <p:regular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BA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2FDC6B2-FFC4-4765-A940-7DCB915AF11F}">
  <a:tblStyle styleId="{22FDC6B2-FFC4-4765-A940-7DCB915AF11F}" styleName="Table_0">
    <a:wholeTbl>
      <a:tcTxStyle b="off" i="off">
        <a:font>
          <a:latin typeface="Roboto Condensed"/>
          <a:ea typeface="Roboto Condensed"/>
          <a:cs typeface="Roboto Condensed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926186E-AC58-4C54-8ADE-D89CEDBEA164}" styleName="Table_1">
    <a:wholeTbl>
      <a:tcTxStyle b="off" i="off">
        <a:font>
          <a:latin typeface="Roboto Condensed"/>
          <a:ea typeface="Roboto Condensed"/>
          <a:cs typeface="Roboto Condensed"/>
        </a:font>
        <a:schemeClr val="dk1"/>
      </a:tcTxStyle>
      <a:tcStyle>
        <a:tcBdr>
          <a:left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67" autoAdjust="0"/>
    <p:restoredTop sz="94660"/>
  </p:normalViewPr>
  <p:slideViewPr>
    <p:cSldViewPr snapToGrid="0">
      <p:cViewPr varScale="1">
        <p:scale>
          <a:sx n="63" d="100"/>
          <a:sy n="63" d="100"/>
        </p:scale>
        <p:origin x="740" y="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viewProps" Target="viewProps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font" Target="fonts/font16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shit Bhimani" userId="8f4253b68caafdb6" providerId="LiveId" clId="{F78A645A-4DB1-4E26-B1F1-9BDEB228046A}"/>
    <pc:docChg chg="undo custSel modSld">
      <pc:chgData name="Darshit Bhimani" userId="8f4253b68caafdb6" providerId="LiveId" clId="{F78A645A-4DB1-4E26-B1F1-9BDEB228046A}" dt="2026-07-08T04:25:31.310" v="17" actId="1076"/>
      <pc:docMkLst>
        <pc:docMk/>
      </pc:docMkLst>
      <pc:sldChg chg="addSp delSp modSp mod">
        <pc:chgData name="Darshit Bhimani" userId="8f4253b68caafdb6" providerId="LiveId" clId="{F78A645A-4DB1-4E26-B1F1-9BDEB228046A}" dt="2026-07-08T04:25:31.310" v="17" actId="1076"/>
        <pc:sldMkLst>
          <pc:docMk/>
          <pc:sldMk cId="0" sldId="274"/>
        </pc:sldMkLst>
        <pc:picChg chg="add del">
          <ac:chgData name="Darshit Bhimani" userId="8f4253b68caafdb6" providerId="LiveId" clId="{F78A645A-4DB1-4E26-B1F1-9BDEB228046A}" dt="2026-07-08T04:21:04.652" v="2" actId="478"/>
          <ac:picMkLst>
            <pc:docMk/>
            <pc:sldMk cId="0" sldId="274"/>
            <ac:picMk id="3" creationId="{99BCE275-3759-3EAE-17CF-39B5D6179D71}"/>
          </ac:picMkLst>
        </pc:picChg>
        <pc:picChg chg="add mod">
          <ac:chgData name="Darshit Bhimani" userId="8f4253b68caafdb6" providerId="LiveId" clId="{F78A645A-4DB1-4E26-B1F1-9BDEB228046A}" dt="2026-07-08T04:25:23.488" v="15" actId="1076"/>
          <ac:picMkLst>
            <pc:docMk/>
            <pc:sldMk cId="0" sldId="274"/>
            <ac:picMk id="4" creationId="{E0AA36AF-6D62-8E4D-C9AF-9ECB33CE3315}"/>
          </ac:picMkLst>
        </pc:picChg>
        <pc:picChg chg="mod">
          <ac:chgData name="Darshit Bhimani" userId="8f4253b68caafdb6" providerId="LiveId" clId="{F78A645A-4DB1-4E26-B1F1-9BDEB228046A}" dt="2026-07-08T04:25:31.310" v="17" actId="1076"/>
          <ac:picMkLst>
            <pc:docMk/>
            <pc:sldMk cId="0" sldId="274"/>
            <ac:picMk id="595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13763" cy="467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39466" y="0"/>
            <a:ext cx="3013763" cy="467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63638"/>
            <a:ext cx="5583238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42030"/>
            <a:ext cx="3013763" cy="467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39466" y="8842030"/>
            <a:ext cx="3013763" cy="467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:notes"/>
          <p:cNvSpPr txBox="1">
            <a:spLocks noGrp="1"/>
          </p:cNvSpPr>
          <p:nvPr>
            <p:ph type="body" idx="1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37" name="Google Shape;43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43" name="Google Shape;44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48" name="Google Shape;44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microsoft.com/office/2007/relationships/hdphoto" Target="../media/hdphoto1.wdp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tif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31179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Google Shape;58;p4">
            <a:extLst>
              <a:ext uri="{FF2B5EF4-FFF2-40B4-BE49-F238E27FC236}">
                <a16:creationId xmlns:a16="http://schemas.microsoft.com/office/drawing/2014/main" id="{AA4EE127-DE13-E3DF-75B4-AE52B95B1DAA}"/>
              </a:ext>
            </a:extLst>
          </p:cNvPr>
          <p:cNvSpPr txBox="1"/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‹#›</a:t>
            </a:fld>
            <a:endParaRPr sz="1200" b="1">
              <a:solidFill>
                <a:srgbClr val="36363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D8DB2CF5-7937-2400-8ABA-2442D0C97423}"/>
              </a:ext>
            </a:extLst>
          </p:cNvPr>
          <p:cNvSpPr txBox="1">
            <a:spLocks/>
          </p:cNvSpPr>
          <p:nvPr userDrawn="1"/>
        </p:nvSpPr>
        <p:spPr>
          <a:xfrm>
            <a:off x="838200" y="6602875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Maulik Trivedi</a:t>
            </a:r>
          </a:p>
        </p:txBody>
      </p:sp>
      <p:sp>
        <p:nvSpPr>
          <p:cNvPr id="8" name="Google Shape;128;p8">
            <a:extLst>
              <a:ext uri="{FF2B5EF4-FFF2-40B4-BE49-F238E27FC236}">
                <a16:creationId xmlns:a16="http://schemas.microsoft.com/office/drawing/2014/main" id="{A7BC8101-C442-39EF-2BA9-EEC2C2936095}"/>
              </a:ext>
            </a:extLst>
          </p:cNvPr>
          <p:cNvSpPr txBox="1"/>
          <p:nvPr userDrawn="1"/>
        </p:nvSpPr>
        <p:spPr>
          <a:xfrm>
            <a:off x="4010025" y="6604005"/>
            <a:ext cx="4761058" cy="253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200"/>
              <a:buFont typeface="Roboto Condensed Light"/>
              <a:buNone/>
            </a:pP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#</a:t>
            </a:r>
            <a:r>
              <a:rPr lang="en-US" sz="1200" dirty="0">
                <a:solidFill>
                  <a:srgbClr val="8A8A8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2104CS301</a:t>
            </a: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(CN)   </a:t>
            </a:r>
            <a:r>
              <a:rPr lang="en-US" sz="1200" dirty="0">
                <a:solidFill>
                  <a:srgbClr val="36363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  LAB 9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73951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7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922F1642-4481-D524-FE6D-75FF6CBDEDB8}"/>
              </a:ext>
            </a:extLst>
          </p:cNvPr>
          <p:cNvSpPr txBox="1">
            <a:spLocks/>
          </p:cNvSpPr>
          <p:nvPr userDrawn="1"/>
        </p:nvSpPr>
        <p:spPr>
          <a:xfrm>
            <a:off x="838200" y="6602875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Maulik Trivedi</a:t>
            </a:r>
          </a:p>
        </p:txBody>
      </p:sp>
      <p:sp>
        <p:nvSpPr>
          <p:cNvPr id="4" name="Google Shape;128;p8">
            <a:extLst>
              <a:ext uri="{FF2B5EF4-FFF2-40B4-BE49-F238E27FC236}">
                <a16:creationId xmlns:a16="http://schemas.microsoft.com/office/drawing/2014/main" id="{440E780A-0729-39B6-7723-9EC331EB9620}"/>
              </a:ext>
            </a:extLst>
          </p:cNvPr>
          <p:cNvSpPr txBox="1"/>
          <p:nvPr userDrawn="1"/>
        </p:nvSpPr>
        <p:spPr>
          <a:xfrm>
            <a:off x="4038600" y="6604000"/>
            <a:ext cx="4761058" cy="253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200"/>
              <a:buFont typeface="Roboto Condensed Light"/>
              <a:buNone/>
            </a:pP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#</a:t>
            </a:r>
            <a:r>
              <a:rPr lang="en-US" sz="1200" dirty="0">
                <a:solidFill>
                  <a:srgbClr val="8A8A8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2304CS301</a:t>
            </a: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(CN)   </a:t>
            </a:r>
            <a:r>
              <a:rPr lang="en-US" sz="1200" dirty="0">
                <a:solidFill>
                  <a:srgbClr val="36363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  LAB 5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6460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- Logo on BL">
  <p:cSld name="Title and Content - Logo on BL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11" name="Google Shape;111;p8"/>
          <p:cNvSpPr txBox="1"/>
          <p:nvPr/>
        </p:nvSpPr>
        <p:spPr>
          <a:xfrm>
            <a:off x="8382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Prof. Jay R Dhamsaniya</a:t>
            </a:r>
            <a:endParaRPr sz="1200">
              <a:solidFill>
                <a:srgbClr val="363636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112" name="Google Shape;112;p8"/>
          <p:cNvSpPr txBox="1"/>
          <p:nvPr/>
        </p:nvSpPr>
        <p:spPr>
          <a:xfrm>
            <a:off x="4038600" y="6604000"/>
            <a:ext cx="41148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#3130006 (PS)   </a:t>
            </a:r>
            <a:r>
              <a:rPr lang="en-US" sz="1200">
                <a:solidFill>
                  <a:srgbClr val="36363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  Unit 1 – Basic Probability</a:t>
            </a:r>
            <a:endParaRPr/>
          </a:p>
        </p:txBody>
      </p:sp>
      <p:sp>
        <p:nvSpPr>
          <p:cNvPr id="113" name="Google Shape;113;p8"/>
          <p:cNvSpPr txBox="1"/>
          <p:nvPr/>
        </p:nvSpPr>
        <p:spPr>
          <a:xfrm>
            <a:off x="86106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‹#›</a:t>
            </a:fld>
            <a:endParaRPr sz="1200" b="1">
              <a:solidFill>
                <a:srgbClr val="36363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114" name="Google Shape;114;p8"/>
          <p:cNvPicPr preferRelativeResize="0"/>
          <p:nvPr/>
        </p:nvPicPr>
        <p:blipFill rotWithShape="1">
          <a:blip r:embed="rId2">
            <a:alphaModFix/>
          </a:blip>
          <a:srcRect t="86739" r="1768" b="3534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8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  <a:defRPr sz="3400" b="1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8"/>
          <p:cNvSpPr txBox="1">
            <a:spLocks noGrp="1"/>
          </p:cNvSpPr>
          <p:nvPr>
            <p:ph type="body" idx="1"/>
          </p:nvPr>
        </p:nvSpPr>
        <p:spPr>
          <a:xfrm>
            <a:off x="131180" y="863444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  <a:defRPr sz="2400">
                <a:solidFill>
                  <a:schemeClr val="dk1"/>
                </a:solidFill>
              </a:defRPr>
            </a:lvl1pPr>
            <a:lvl2pPr marL="914400" lvl="1" indent="-355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  <a:defRPr sz="2000">
                <a:solidFill>
                  <a:schemeClr val="dk1"/>
                </a:solidFill>
              </a:defRPr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3pPr>
            <a:lvl4pPr marL="1828800" lvl="3" indent="-3302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marL="2286000" lvl="4" indent="-3302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cxnSp>
        <p:nvCxnSpPr>
          <p:cNvPr id="117" name="Google Shape;117;p8"/>
          <p:cNvCxnSpPr/>
          <p:nvPr/>
        </p:nvCxnSpPr>
        <p:spPr>
          <a:xfrm>
            <a:off x="0" y="71120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8" name="Google Shape;118;p8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BFBFBF">
                <a:alpha val="6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9" name="Google Shape;119;p8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1" name="Google Shape;121;p8"/>
          <p:cNvSpPr txBox="1"/>
          <p:nvPr/>
        </p:nvSpPr>
        <p:spPr>
          <a:xfrm>
            <a:off x="86106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‹#›</a:t>
            </a:fld>
            <a:endParaRPr sz="1200" b="1">
              <a:solidFill>
                <a:srgbClr val="36363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122" name="Google Shape;122;p8"/>
          <p:cNvPicPr preferRelativeResize="0"/>
          <p:nvPr/>
        </p:nvPicPr>
        <p:blipFill rotWithShape="1">
          <a:blip r:embed="rId2">
            <a:alphaModFix/>
          </a:blip>
          <a:srcRect t="86739" r="1768" b="3534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3" name="Google Shape;123;p8"/>
          <p:cNvCxnSpPr/>
          <p:nvPr/>
        </p:nvCxnSpPr>
        <p:spPr>
          <a:xfrm>
            <a:off x="0" y="71120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4" name="Google Shape;124;p8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BFBFBF">
                <a:alpha val="6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25" name="Google Shape;125;p8"/>
          <p:cNvGrpSpPr/>
          <p:nvPr/>
        </p:nvGrpSpPr>
        <p:grpSpPr>
          <a:xfrm>
            <a:off x="218352" y="5580556"/>
            <a:ext cx="2554142" cy="828000"/>
            <a:chOff x="131178" y="5775961"/>
            <a:chExt cx="2530238" cy="820250"/>
          </a:xfrm>
        </p:grpSpPr>
        <p:pic>
          <p:nvPicPr>
            <p:cNvPr id="126" name="Google Shape;126;p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52314" y="5775961"/>
              <a:ext cx="1815353" cy="820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" name="Google Shape;127;p8"/>
            <p:cNvSpPr/>
            <p:nvPr/>
          </p:nvSpPr>
          <p:spPr>
            <a:xfrm>
              <a:off x="131178" y="5775961"/>
              <a:ext cx="2530238" cy="820250"/>
            </a:xfrm>
            <a:prstGeom prst="rect">
              <a:avLst/>
            </a:prstGeom>
            <a:solidFill>
              <a:schemeClr val="lt1">
                <a:alpha val="6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9193C1-62DE-9B63-C478-582D4EA02555}"/>
              </a:ext>
            </a:extLst>
          </p:cNvPr>
          <p:cNvSpPr txBox="1">
            <a:spLocks/>
          </p:cNvSpPr>
          <p:nvPr userDrawn="1"/>
        </p:nvSpPr>
        <p:spPr>
          <a:xfrm>
            <a:off x="875709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Maulik Trivedi</a:t>
            </a:r>
          </a:p>
        </p:txBody>
      </p:sp>
      <p:sp>
        <p:nvSpPr>
          <p:cNvPr id="4" name="Google Shape;128;p8">
            <a:extLst>
              <a:ext uri="{FF2B5EF4-FFF2-40B4-BE49-F238E27FC236}">
                <a16:creationId xmlns:a16="http://schemas.microsoft.com/office/drawing/2014/main" id="{786000A6-658B-C3C0-6590-C8DF474BF99B}"/>
              </a:ext>
            </a:extLst>
          </p:cNvPr>
          <p:cNvSpPr txBox="1"/>
          <p:nvPr userDrawn="1"/>
        </p:nvSpPr>
        <p:spPr>
          <a:xfrm>
            <a:off x="4038600" y="6604000"/>
            <a:ext cx="4761058" cy="253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200"/>
              <a:buFont typeface="Roboto Condensed Light"/>
              <a:buNone/>
            </a:pP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#</a:t>
            </a:r>
            <a:r>
              <a:rPr lang="en-US" sz="1200" dirty="0">
                <a:solidFill>
                  <a:srgbClr val="8A8A8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2304CS301</a:t>
            </a: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(CN)   </a:t>
            </a:r>
            <a:r>
              <a:rPr lang="en-US" sz="1200" dirty="0">
                <a:solidFill>
                  <a:srgbClr val="36363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  LAB 5</a:t>
            </a:r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ck - Logo on TR">
  <p:cSld name="Blanck - Logo on TR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31" name="Google Shape;131;p9"/>
          <p:cNvSpPr txBox="1"/>
          <p:nvPr/>
        </p:nvSpPr>
        <p:spPr>
          <a:xfrm>
            <a:off x="8382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Prof. Jay R Dhamsaniya</a:t>
            </a:r>
            <a:endParaRPr sz="1200">
              <a:solidFill>
                <a:srgbClr val="363636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132" name="Google Shape;132;p9"/>
          <p:cNvSpPr txBox="1"/>
          <p:nvPr/>
        </p:nvSpPr>
        <p:spPr>
          <a:xfrm>
            <a:off x="4038600" y="6604000"/>
            <a:ext cx="41148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#3130006 (PS)   </a:t>
            </a:r>
            <a:r>
              <a:rPr lang="en-US" sz="1200">
                <a:solidFill>
                  <a:srgbClr val="36363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  Unit 1 – Basic Probability</a:t>
            </a:r>
            <a:endParaRPr/>
          </a:p>
        </p:txBody>
      </p:sp>
      <p:sp>
        <p:nvSpPr>
          <p:cNvPr id="133" name="Google Shape;133;p9"/>
          <p:cNvSpPr txBox="1"/>
          <p:nvPr/>
        </p:nvSpPr>
        <p:spPr>
          <a:xfrm>
            <a:off x="86106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‹#›</a:t>
            </a:fld>
            <a:endParaRPr sz="1200" b="1">
              <a:solidFill>
                <a:srgbClr val="36363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134" name="Google Shape;134;p9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BFBFBF">
                <a:alpha val="6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5" name="Google Shape;135;p9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37" name="Google Shape;137;p9"/>
          <p:cNvSpPr txBox="1"/>
          <p:nvPr/>
        </p:nvSpPr>
        <p:spPr>
          <a:xfrm>
            <a:off x="86106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‹#›</a:t>
            </a:fld>
            <a:endParaRPr sz="1200" b="1">
              <a:solidFill>
                <a:srgbClr val="36363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138" name="Google Shape;138;p9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BFBFBF">
                <a:alpha val="6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39" name="Google Shape;139;p9"/>
          <p:cNvGrpSpPr/>
          <p:nvPr/>
        </p:nvGrpSpPr>
        <p:grpSpPr>
          <a:xfrm>
            <a:off x="9637856" y="0"/>
            <a:ext cx="2554142" cy="828000"/>
            <a:chOff x="131178" y="5775961"/>
            <a:chExt cx="2530238" cy="820250"/>
          </a:xfrm>
        </p:grpSpPr>
        <p:pic>
          <p:nvPicPr>
            <p:cNvPr id="140" name="Google Shape;140;p9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752314" y="5775961"/>
              <a:ext cx="1815353" cy="820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9"/>
            <p:cNvSpPr/>
            <p:nvPr/>
          </p:nvSpPr>
          <p:spPr>
            <a:xfrm>
              <a:off x="131178" y="5775961"/>
              <a:ext cx="2530238" cy="820250"/>
            </a:xfrm>
            <a:prstGeom prst="rect">
              <a:avLst/>
            </a:prstGeom>
            <a:solidFill>
              <a:schemeClr val="lt1">
                <a:alpha val="6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5D5EA3-2859-DAB5-3BCA-AD1537791CBC}"/>
              </a:ext>
            </a:extLst>
          </p:cNvPr>
          <p:cNvSpPr txBox="1">
            <a:spLocks/>
          </p:cNvSpPr>
          <p:nvPr userDrawn="1"/>
        </p:nvSpPr>
        <p:spPr>
          <a:xfrm>
            <a:off x="875709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Maulik Trivedi</a:t>
            </a:r>
          </a:p>
        </p:txBody>
      </p:sp>
      <p:sp>
        <p:nvSpPr>
          <p:cNvPr id="4" name="Google Shape;128;p8">
            <a:extLst>
              <a:ext uri="{FF2B5EF4-FFF2-40B4-BE49-F238E27FC236}">
                <a16:creationId xmlns:a16="http://schemas.microsoft.com/office/drawing/2014/main" id="{C1C06B82-F974-7359-27B4-72F5081B4208}"/>
              </a:ext>
            </a:extLst>
          </p:cNvPr>
          <p:cNvSpPr txBox="1"/>
          <p:nvPr userDrawn="1"/>
        </p:nvSpPr>
        <p:spPr>
          <a:xfrm>
            <a:off x="4038600" y="6604000"/>
            <a:ext cx="4761058" cy="253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200"/>
              <a:buFont typeface="Roboto Condensed Light"/>
              <a:buNone/>
            </a:pP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#</a:t>
            </a:r>
            <a:r>
              <a:rPr lang="en-US" sz="1200" dirty="0">
                <a:solidFill>
                  <a:srgbClr val="8A8A8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2304CS301</a:t>
            </a: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(CN)   </a:t>
            </a:r>
            <a:r>
              <a:rPr lang="en-US" sz="1200" dirty="0">
                <a:solidFill>
                  <a:srgbClr val="36363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  LAB 5</a:t>
            </a:r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ck - Logo on BR">
  <p:cSld name="Blanck - Logo on BR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45" name="Google Shape;145;p10"/>
          <p:cNvSpPr txBox="1"/>
          <p:nvPr/>
        </p:nvSpPr>
        <p:spPr>
          <a:xfrm>
            <a:off x="8382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Prof. Jay R Dhamsaniya</a:t>
            </a:r>
            <a:endParaRPr sz="1200">
              <a:solidFill>
                <a:srgbClr val="363636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146" name="Google Shape;146;p10"/>
          <p:cNvSpPr txBox="1"/>
          <p:nvPr/>
        </p:nvSpPr>
        <p:spPr>
          <a:xfrm>
            <a:off x="4038600" y="6604000"/>
            <a:ext cx="41148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#3130006 (PS)   </a:t>
            </a:r>
            <a:r>
              <a:rPr lang="en-US" sz="1200">
                <a:solidFill>
                  <a:srgbClr val="36363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  Unit 1 – Basic Probability</a:t>
            </a:r>
            <a:endParaRPr/>
          </a:p>
        </p:txBody>
      </p:sp>
      <p:sp>
        <p:nvSpPr>
          <p:cNvPr id="147" name="Google Shape;147;p10"/>
          <p:cNvSpPr txBox="1"/>
          <p:nvPr/>
        </p:nvSpPr>
        <p:spPr>
          <a:xfrm>
            <a:off x="86106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‹#›</a:t>
            </a:fld>
            <a:endParaRPr sz="1200" b="1">
              <a:solidFill>
                <a:srgbClr val="36363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148" name="Google Shape;148;p10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BFBFBF">
                <a:alpha val="6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9" name="Google Shape;149;p10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51" name="Google Shape;151;p10"/>
          <p:cNvSpPr txBox="1"/>
          <p:nvPr/>
        </p:nvSpPr>
        <p:spPr>
          <a:xfrm>
            <a:off x="86106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‹#›</a:t>
            </a:fld>
            <a:endParaRPr sz="1200" b="1">
              <a:solidFill>
                <a:srgbClr val="36363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152" name="Google Shape;152;p10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BFBFBF">
                <a:alpha val="6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53" name="Google Shape;153;p10"/>
          <p:cNvGrpSpPr/>
          <p:nvPr/>
        </p:nvGrpSpPr>
        <p:grpSpPr>
          <a:xfrm>
            <a:off x="9637856" y="0"/>
            <a:ext cx="2554142" cy="828000"/>
            <a:chOff x="131178" y="5775961"/>
            <a:chExt cx="2530238" cy="820250"/>
          </a:xfrm>
        </p:grpSpPr>
        <p:pic>
          <p:nvPicPr>
            <p:cNvPr id="154" name="Google Shape;154;p1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752314" y="5775961"/>
              <a:ext cx="1815353" cy="820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" name="Google Shape;155;p10"/>
            <p:cNvSpPr/>
            <p:nvPr/>
          </p:nvSpPr>
          <p:spPr>
            <a:xfrm>
              <a:off x="131178" y="5775961"/>
              <a:ext cx="2530238" cy="820250"/>
            </a:xfrm>
            <a:prstGeom prst="rect">
              <a:avLst/>
            </a:prstGeom>
            <a:solidFill>
              <a:schemeClr val="lt1">
                <a:alpha val="6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9DEBE3-998F-9556-AEC4-5D765E4CBD30}"/>
              </a:ext>
            </a:extLst>
          </p:cNvPr>
          <p:cNvSpPr txBox="1">
            <a:spLocks/>
          </p:cNvSpPr>
          <p:nvPr userDrawn="1"/>
        </p:nvSpPr>
        <p:spPr>
          <a:xfrm>
            <a:off x="875709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Maulik Trivedi</a:t>
            </a:r>
          </a:p>
        </p:txBody>
      </p:sp>
      <p:sp>
        <p:nvSpPr>
          <p:cNvPr id="4" name="Google Shape;128;p8">
            <a:extLst>
              <a:ext uri="{FF2B5EF4-FFF2-40B4-BE49-F238E27FC236}">
                <a16:creationId xmlns:a16="http://schemas.microsoft.com/office/drawing/2014/main" id="{CA8014BE-698F-4539-BE55-F3C1D3705629}"/>
              </a:ext>
            </a:extLst>
          </p:cNvPr>
          <p:cNvSpPr txBox="1"/>
          <p:nvPr userDrawn="1"/>
        </p:nvSpPr>
        <p:spPr>
          <a:xfrm>
            <a:off x="4038600" y="6604000"/>
            <a:ext cx="4761058" cy="253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200"/>
              <a:buFont typeface="Roboto Condensed Light"/>
              <a:buNone/>
            </a:pP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#</a:t>
            </a:r>
            <a:r>
              <a:rPr lang="en-US" sz="1200" dirty="0">
                <a:solidFill>
                  <a:srgbClr val="8A8A8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2304CS301</a:t>
            </a: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(CN)   </a:t>
            </a:r>
            <a:r>
              <a:rPr lang="en-US" sz="1200" dirty="0">
                <a:solidFill>
                  <a:srgbClr val="36363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  LAB 5</a:t>
            </a:r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ck - Logo on BL">
  <p:cSld name="Blanck - Logo on BL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59" name="Google Shape;159;p11"/>
          <p:cNvSpPr txBox="1"/>
          <p:nvPr/>
        </p:nvSpPr>
        <p:spPr>
          <a:xfrm>
            <a:off x="8382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Prof. Jay R Dhamsaniya</a:t>
            </a:r>
            <a:endParaRPr sz="1200">
              <a:solidFill>
                <a:srgbClr val="363636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160" name="Google Shape;160;p11"/>
          <p:cNvSpPr txBox="1"/>
          <p:nvPr/>
        </p:nvSpPr>
        <p:spPr>
          <a:xfrm>
            <a:off x="4038600" y="6604000"/>
            <a:ext cx="41148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#3130006 (PS)   </a:t>
            </a:r>
            <a:r>
              <a:rPr lang="en-US" sz="1200">
                <a:solidFill>
                  <a:srgbClr val="36363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  Unit 1 – Basic Probability</a:t>
            </a:r>
            <a:endParaRPr/>
          </a:p>
        </p:txBody>
      </p:sp>
      <p:sp>
        <p:nvSpPr>
          <p:cNvPr id="161" name="Google Shape;161;p11"/>
          <p:cNvSpPr txBox="1"/>
          <p:nvPr/>
        </p:nvSpPr>
        <p:spPr>
          <a:xfrm>
            <a:off x="86106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‹#›</a:t>
            </a:fld>
            <a:endParaRPr sz="1200" b="1">
              <a:solidFill>
                <a:srgbClr val="36363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162" name="Google Shape;162;p11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BFBFBF">
                <a:alpha val="6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3" name="Google Shape;163;p11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65" name="Google Shape;165;p11"/>
          <p:cNvSpPr txBox="1"/>
          <p:nvPr/>
        </p:nvSpPr>
        <p:spPr>
          <a:xfrm>
            <a:off x="86106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‹#›</a:t>
            </a:fld>
            <a:endParaRPr sz="1200" b="1">
              <a:solidFill>
                <a:srgbClr val="36363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166" name="Google Shape;166;p11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BFBFBF">
                <a:alpha val="6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67" name="Google Shape;167;p11"/>
          <p:cNvGrpSpPr/>
          <p:nvPr/>
        </p:nvGrpSpPr>
        <p:grpSpPr>
          <a:xfrm>
            <a:off x="37511" y="5776000"/>
            <a:ext cx="2554142" cy="828000"/>
            <a:chOff x="131178" y="5775961"/>
            <a:chExt cx="2530238" cy="820250"/>
          </a:xfrm>
        </p:grpSpPr>
        <p:pic>
          <p:nvPicPr>
            <p:cNvPr id="168" name="Google Shape;168;p11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752314" y="5775961"/>
              <a:ext cx="1815353" cy="820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" name="Google Shape;169;p11"/>
            <p:cNvSpPr/>
            <p:nvPr/>
          </p:nvSpPr>
          <p:spPr>
            <a:xfrm>
              <a:off x="131178" y="5775961"/>
              <a:ext cx="2530238" cy="820250"/>
            </a:xfrm>
            <a:prstGeom prst="rect">
              <a:avLst/>
            </a:prstGeom>
            <a:solidFill>
              <a:schemeClr val="lt1">
                <a:alpha val="6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42A034-9800-3080-77A7-221A1B18BBBC}"/>
              </a:ext>
            </a:extLst>
          </p:cNvPr>
          <p:cNvSpPr txBox="1">
            <a:spLocks/>
          </p:cNvSpPr>
          <p:nvPr userDrawn="1"/>
        </p:nvSpPr>
        <p:spPr>
          <a:xfrm>
            <a:off x="875709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Maulik Trivedi</a:t>
            </a:r>
          </a:p>
        </p:txBody>
      </p:sp>
      <p:sp>
        <p:nvSpPr>
          <p:cNvPr id="4" name="Google Shape;128;p8">
            <a:extLst>
              <a:ext uri="{FF2B5EF4-FFF2-40B4-BE49-F238E27FC236}">
                <a16:creationId xmlns:a16="http://schemas.microsoft.com/office/drawing/2014/main" id="{D28C5961-3104-06B5-E96F-6B868DD89EF5}"/>
              </a:ext>
            </a:extLst>
          </p:cNvPr>
          <p:cNvSpPr txBox="1"/>
          <p:nvPr userDrawn="1"/>
        </p:nvSpPr>
        <p:spPr>
          <a:xfrm>
            <a:off x="4038600" y="6604000"/>
            <a:ext cx="4761058" cy="253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200"/>
              <a:buFont typeface="Roboto Condensed Light"/>
              <a:buNone/>
            </a:pP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#</a:t>
            </a:r>
            <a:r>
              <a:rPr lang="en-US" sz="1200" dirty="0">
                <a:solidFill>
                  <a:srgbClr val="8A8A8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2304CS301</a:t>
            </a: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(CN)   </a:t>
            </a:r>
            <a:r>
              <a:rPr lang="en-US" sz="1200" dirty="0">
                <a:solidFill>
                  <a:srgbClr val="36363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  LAB 5</a:t>
            </a:r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3"/>
          <p:cNvPicPr preferRelativeResize="0"/>
          <p:nvPr/>
        </p:nvPicPr>
        <p:blipFill rotWithShape="1">
          <a:blip r:embed="rId2">
            <a:alphaModFix/>
          </a:blip>
          <a:srcRect r="11581" b="21179"/>
          <a:stretch/>
        </p:blipFill>
        <p:spPr>
          <a:xfrm rot="-5400000">
            <a:off x="9807099" y="606901"/>
            <a:ext cx="2991808" cy="177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3"/>
          <p:cNvPicPr preferRelativeResize="0"/>
          <p:nvPr/>
        </p:nvPicPr>
        <p:blipFill rotWithShape="1">
          <a:blip r:embed="rId3">
            <a:alphaModFix/>
          </a:blip>
          <a:srcRect l="79646" t="18062" r="2730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D3064"/>
              </a:buClr>
              <a:buSzPts val="6000"/>
              <a:buFont typeface="Roboto Condensed"/>
              <a:buNone/>
              <a:defRPr sz="6000" b="1">
                <a:solidFill>
                  <a:srgbClr val="1D3064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0" name="Google Shape;40;p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2000"/>
              <a:buNone/>
              <a:defRPr sz="2000">
                <a:solidFill>
                  <a:srgbClr val="8A8A8A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800"/>
              <a:buNone/>
              <a:defRPr sz="1800">
                <a:solidFill>
                  <a:srgbClr val="8A8A8A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9pPr>
          </a:lstStyle>
          <a:p>
            <a:endParaRPr/>
          </a:p>
        </p:txBody>
      </p:sp>
      <p:pic>
        <p:nvPicPr>
          <p:cNvPr id="41" name="Google Shape;41;p3"/>
          <p:cNvPicPr preferRelativeResize="0"/>
          <p:nvPr/>
        </p:nvPicPr>
        <p:blipFill rotWithShape="1">
          <a:blip r:embed="rId2">
            <a:alphaModFix/>
          </a:blip>
          <a:srcRect r="11581" b="21179"/>
          <a:stretch/>
        </p:blipFill>
        <p:spPr>
          <a:xfrm rot="-5400000">
            <a:off x="9807099" y="606901"/>
            <a:ext cx="2991808" cy="177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3"/>
          <p:cNvPicPr preferRelativeResize="0"/>
          <p:nvPr/>
        </p:nvPicPr>
        <p:blipFill rotWithShape="1">
          <a:blip r:embed="rId4">
            <a:alphaModFix/>
          </a:blip>
          <a:srcRect l="79646" t="18062" r="2730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3"/>
          <p:cNvSpPr/>
          <p:nvPr/>
        </p:nvSpPr>
        <p:spPr>
          <a:xfrm>
            <a:off x="0" y="5905331"/>
            <a:ext cx="1901425" cy="952668"/>
          </a:xfrm>
          <a:custGeom>
            <a:avLst/>
            <a:gdLst/>
            <a:ahLst/>
            <a:cxnLst/>
            <a:rect l="l" t="t" r="r" b="b"/>
            <a:pathLst>
              <a:path w="2048" h="1024" extrusionOk="0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B71B1C"/>
              </a:gs>
              <a:gs pos="10000">
                <a:srgbClr val="B71B1C"/>
              </a:gs>
              <a:gs pos="100000">
                <a:srgbClr val="ED524F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44" name="Google Shape;44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69807" y="5866956"/>
            <a:ext cx="1778000" cy="8034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8493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mplete Blanck">
  <p:cSld name="2_Complete Blanck">
    <p:bg>
      <p:bgPr>
        <a:solidFill>
          <a:schemeClr val="dk2"/>
        </a:solid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6969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51730" y="244174"/>
            <a:ext cx="3395148" cy="1442867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/>
          <a:stretch/>
        </p:blipFill>
        <p:spPr>
          <a:xfrm>
            <a:off x="959767" y="3827036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D370FB6-7031-0A4B-838F-03DBE8CD8D6E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983130" y="2329344"/>
            <a:ext cx="2199311" cy="219931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1946227-18C8-F84C-AE02-FA328FFAD9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862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Condensed"/>
              <a:buNone/>
              <a:defRPr sz="4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A8A8A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A8A8A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54" r:id="rId3"/>
    <p:sldLayoutId id="2147483655" r:id="rId4"/>
    <p:sldLayoutId id="2147483656" r:id="rId5"/>
    <p:sldLayoutId id="2147483657" r:id="rId6"/>
    <p:sldLayoutId id="2147483662" r:id="rId7"/>
    <p:sldLayoutId id="2147483663" r:id="rId8"/>
    <p:sldLayoutId id="2147483664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gi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jp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747E4E-823D-614A-B4B7-AC128FF382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9242" y="1103123"/>
            <a:ext cx="8297907" cy="2578780"/>
          </a:xfrm>
        </p:spPr>
        <p:txBody>
          <a:bodyPr/>
          <a:lstStyle/>
          <a:p>
            <a:r>
              <a:rPr lang="en-US" sz="4400" b="0" dirty="0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LAB- 5</a:t>
            </a:r>
            <a:br>
              <a:rPr lang="en-US" sz="4400" dirty="0"/>
            </a:br>
            <a:br>
              <a:rPr lang="en-IN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4400" b="0" dirty="0"/>
              <a:t>Study the concept of </a:t>
            </a:r>
            <a:r>
              <a:rPr lang="en-US" sz="4400" dirty="0"/>
              <a:t>VLAN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EBD4442-5C83-5F4A-8AEA-1614164C87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maulik.trivedi@darshan.ac.in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507D4B6-0B64-6A44-BA9C-B9BF69DC2E1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+91-9998265805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E4F568A-30BE-2049-9622-DC2108A446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Computer Engineering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71A5B73-F4FC-AC48-953E-993670B73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Prof. Maulik D Trivedi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73BE456-33E7-B748-B5B3-F501CA8044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Computer Networks </a:t>
            </a:r>
            <a:r>
              <a:rPr lang="en-US" dirty="0"/>
              <a:t>(CN)</a:t>
            </a:r>
          </a:p>
          <a:p>
            <a:pPr>
              <a:spcAft>
                <a:spcPts val="600"/>
              </a:spcAft>
            </a:pPr>
            <a:r>
              <a:rPr lang="en-US" dirty="0"/>
              <a:t>DU #2301CS501</a:t>
            </a:r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72831386-25BD-CB4A-8E69-CCA21F5039F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25012AC-5C43-CE81-D61F-5FA20BB1D897}"/>
              </a:ext>
            </a:extLst>
          </p:cNvPr>
          <p:cNvSpPr txBox="1"/>
          <p:nvPr/>
        </p:nvSpPr>
        <p:spPr>
          <a:xfrm>
            <a:off x="6096000" y="6460218"/>
            <a:ext cx="61001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Disclaimer: The images used in this presentation are sourced solely for educational and nonprofit purposes. The author of this presentation asserts no ownership or copyright claims over them."</a:t>
            </a:r>
          </a:p>
        </p:txBody>
      </p:sp>
    </p:spTree>
    <p:extLst>
      <p:ext uri="{BB962C8B-B14F-4D97-AF65-F5344CB8AC3E}">
        <p14:creationId xmlns:p14="http://schemas.microsoft.com/office/powerpoint/2010/main" val="235490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2" name="Google Shape;222;p14"/>
          <p:cNvCxnSpPr>
            <a:endCxn id="223" idx="0"/>
          </p:cNvCxnSpPr>
          <p:nvPr/>
        </p:nvCxnSpPr>
        <p:spPr>
          <a:xfrm>
            <a:off x="1191446" y="106"/>
            <a:ext cx="0" cy="68280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24" name="Google Shape;224;p14"/>
          <p:cNvCxnSpPr/>
          <p:nvPr/>
        </p:nvCxnSpPr>
        <p:spPr>
          <a:xfrm>
            <a:off x="1191446" y="5063613"/>
            <a:ext cx="0" cy="1794387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3" name="Google Shape;223;p14"/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solidFill>
            <a:schemeClr val="accent3"/>
          </a:solidFill>
          <a:ln w="1270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✓</a:t>
            </a:r>
            <a:endParaRPr sz="2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25" name="Google Shape;225;p14"/>
          <p:cNvSpPr txBox="1"/>
          <p:nvPr/>
        </p:nvSpPr>
        <p:spPr>
          <a:xfrm>
            <a:off x="1527891" y="720132"/>
            <a:ext cx="2434501" cy="840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90000"/>
              </a:lnSpc>
              <a:buClr>
                <a:srgbClr val="1D3064"/>
              </a:buClr>
              <a:buSzPts val="6000"/>
            </a:pPr>
            <a:r>
              <a:rPr lang="en-US" sz="5400" b="1" dirty="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Outline</a:t>
            </a:r>
            <a:endParaRPr sz="5400" b="1" dirty="0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226" name="Google Shape;226;p14"/>
          <p:cNvCxnSpPr/>
          <p:nvPr/>
        </p:nvCxnSpPr>
        <p:spPr>
          <a:xfrm>
            <a:off x="1191446" y="1157468"/>
            <a:ext cx="0" cy="3979075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9C2EE4A-DA19-F85B-D664-2B3C63D9EB3D}"/>
              </a:ext>
            </a:extLst>
          </p:cNvPr>
          <p:cNvSpPr txBox="1"/>
          <p:nvPr/>
        </p:nvSpPr>
        <p:spPr>
          <a:xfrm>
            <a:off x="1600119" y="1720476"/>
            <a:ext cx="722125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chemeClr val="bg1">
                    <a:lumMod val="5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What is VLAN?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chemeClr val="bg1">
                    <a:lumMod val="5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Need of VLAN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chemeClr val="bg1">
                    <a:lumMod val="5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Advantages of VLANs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Access and trunk interface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Configuration of VLAN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Step to </a:t>
            </a:r>
            <a:r>
              <a:rPr lang="en-US" sz="2000">
                <a:solidFill>
                  <a:schemeClr val="bg1">
                    <a:lumMod val="50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configure VLANs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marL="457200" lvl="1"/>
            <a:endParaRPr lang="en-IN" sz="2000" dirty="0">
              <a:solidFill>
                <a:schemeClr val="bg1">
                  <a:lumMod val="50000"/>
                </a:schemeClr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marL="457200" lvl="1"/>
            <a:endParaRPr lang="en-IN" sz="2000" dirty="0">
              <a:solidFill>
                <a:schemeClr val="bg1">
                  <a:lumMod val="50000"/>
                </a:schemeClr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marL="457200" lvl="1"/>
            <a:endParaRPr lang="en-IN" sz="2000" dirty="0">
              <a:solidFill>
                <a:schemeClr val="bg1">
                  <a:lumMod val="50000"/>
                </a:schemeClr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sz="2000" dirty="0">
              <a:solidFill>
                <a:schemeClr val="bg1">
                  <a:lumMod val="50000"/>
                </a:schemeClr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lvl="2"/>
            <a:endParaRPr lang="en-IN" sz="2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5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6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</a:rPr>
              <a:t>Broadcast in LANs</a:t>
            </a:r>
          </a:p>
        </p:txBody>
      </p:sp>
      <p:pic>
        <p:nvPicPr>
          <p:cNvPr id="352" name="Google Shape;352;p2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5262" t="9603" r="8398" b="10075"/>
          <a:stretch>
            <a:fillRect/>
          </a:stretch>
        </p:blipFill>
        <p:spPr>
          <a:xfrm>
            <a:off x="2864323" y="3233056"/>
            <a:ext cx="6155011" cy="3220953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6"/>
          <p:cNvSpPr txBox="1"/>
          <p:nvPr/>
        </p:nvSpPr>
        <p:spPr>
          <a:xfrm>
            <a:off x="3077506" y="6236920"/>
            <a:ext cx="594182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 different networks LANs switch forwards' traffic.</a:t>
            </a:r>
            <a:endParaRPr sz="18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54" name="Google Shape;354;p26"/>
          <p:cNvSpPr txBox="1"/>
          <p:nvPr/>
        </p:nvSpPr>
        <p:spPr>
          <a:xfrm>
            <a:off x="131180" y="863444"/>
            <a:ext cx="12060820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lvl="0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SzPts val="2800"/>
              <a:buFont typeface="Wingdings 3" panose="05040102010807070707" pitchFamily="18" charset="2"/>
              <a:buChar char=""/>
            </a:pPr>
            <a:r>
              <a:rPr lang="en-US" sz="2400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 </a:t>
            </a:r>
            <a:r>
              <a:rPr lang="en-US" sz="2400" b="1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broadcast domain</a:t>
            </a:r>
            <a:r>
              <a:rPr lang="en-US" sz="2400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is a set of devices that can receive broadcast messages from each other.</a:t>
            </a:r>
          </a:p>
          <a:p>
            <a:pPr marL="265113" lvl="0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SzPts val="2800"/>
              <a:buFont typeface="Wingdings 3" panose="05040102010807070707" pitchFamily="18" charset="2"/>
              <a:buChar char=""/>
            </a:pPr>
            <a:r>
              <a:rPr lang="en-US" sz="24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Broadcast messages are </a:t>
            </a:r>
            <a:r>
              <a:rPr lang="en-US" sz="24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packets</a:t>
            </a:r>
            <a:r>
              <a:rPr lang="en-US" sz="24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that are </a:t>
            </a:r>
            <a:r>
              <a:rPr lang="en-US" sz="24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sent to</a:t>
            </a:r>
            <a:r>
              <a:rPr lang="en-US" sz="24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24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all devices </a:t>
            </a:r>
            <a:r>
              <a:rPr lang="en-US" sz="24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on the </a:t>
            </a:r>
            <a:r>
              <a:rPr lang="en-US" sz="24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same network</a:t>
            </a:r>
            <a:r>
              <a:rPr lang="en-US" sz="24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such as ARP requests or DHCP offers. </a:t>
            </a:r>
            <a:endParaRPr lang="en-US" dirty="0">
              <a:ea typeface="Roboto Condensed"/>
            </a:endParaRPr>
          </a:p>
          <a:p>
            <a:pPr marL="265113" lvl="0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SzPts val="2800"/>
              <a:buFont typeface="Wingdings 3" panose="05040102010807070707" pitchFamily="18" charset="2"/>
              <a:buChar char=""/>
            </a:pPr>
            <a:r>
              <a:rPr lang="en-US" sz="24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They can also </a:t>
            </a:r>
            <a:r>
              <a:rPr lang="en-US" sz="2400" b="1" dirty="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consume bandwidth </a:t>
            </a:r>
            <a:r>
              <a:rPr lang="en-US" sz="24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</a:t>
            </a:r>
            <a:r>
              <a:rPr lang="en-US" sz="2400" b="1" dirty="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cause network congestion </a:t>
            </a:r>
            <a:r>
              <a:rPr lang="en-US" sz="24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if there are too many devices or too much traffic on the same network.</a:t>
            </a:r>
            <a:endParaRPr dirty="0"/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3F2B4-0D90-F0F6-1435-AE2871007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</a:rPr>
              <a:t>Broadcast in LANs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CC1A5-3DBD-AA13-BA03-8903AA5D4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Two different LANs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6C4C727-075A-39A5-58A6-AF84ADD2BED1}"/>
              </a:ext>
            </a:extLst>
          </p:cNvPr>
          <p:cNvGrpSpPr/>
          <p:nvPr/>
        </p:nvGrpSpPr>
        <p:grpSpPr>
          <a:xfrm>
            <a:off x="488986" y="1791353"/>
            <a:ext cx="4255734" cy="3683194"/>
            <a:chOff x="488986" y="1791353"/>
            <a:chExt cx="4255734" cy="3683194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1DB97F3A-DC8E-C9C5-B325-38128E22615F}"/>
                </a:ext>
              </a:extLst>
            </p:cNvPr>
            <p:cNvGrpSpPr/>
            <p:nvPr/>
          </p:nvGrpSpPr>
          <p:grpSpPr>
            <a:xfrm>
              <a:off x="488986" y="1791353"/>
              <a:ext cx="4255734" cy="3683194"/>
              <a:chOff x="488986" y="1791353"/>
              <a:chExt cx="4255734" cy="3683194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FA74AA5-B559-D1D7-4260-922059189CD0}"/>
                  </a:ext>
                </a:extLst>
              </p:cNvPr>
              <p:cNvSpPr txBox="1"/>
              <p:nvPr/>
            </p:nvSpPr>
            <p:spPr>
              <a:xfrm>
                <a:off x="2120563" y="4948573"/>
                <a:ext cx="99257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400" dirty="0">
                    <a:solidFill>
                      <a:schemeClr val="tx1"/>
                    </a:solidFill>
                    <a:latin typeface="Roboto Condensed"/>
                    <a:ea typeface="Roboto Condensed"/>
                    <a:cs typeface="Roboto Condensed"/>
                    <a:sym typeface="Roboto Condensed"/>
                  </a:rPr>
                  <a:t>LAN 1 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EE80727-58E6-E8AB-EFA1-3BD0B148E57E}"/>
                  </a:ext>
                </a:extLst>
              </p:cNvPr>
              <p:cNvSpPr/>
              <p:nvPr/>
            </p:nvSpPr>
            <p:spPr>
              <a:xfrm>
                <a:off x="488986" y="1791353"/>
                <a:ext cx="4255734" cy="3683194"/>
              </a:xfrm>
              <a:prstGeom prst="rect">
                <a:avLst/>
              </a:prstGeom>
              <a:noFill/>
              <a:ln w="5715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2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23A4963-2C30-BE36-0D20-6EA149EE92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34125" y="2162614"/>
              <a:ext cx="2365453" cy="2682472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EFAFD58-3668-DED0-6AF8-7CA33A3698C2}"/>
              </a:ext>
            </a:extLst>
          </p:cNvPr>
          <p:cNvGrpSpPr/>
          <p:nvPr/>
        </p:nvGrpSpPr>
        <p:grpSpPr>
          <a:xfrm>
            <a:off x="5740173" y="1791353"/>
            <a:ext cx="4255734" cy="3683194"/>
            <a:chOff x="5768453" y="1817129"/>
            <a:chExt cx="4255734" cy="368319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D340541-5B87-2877-F301-DFE40137DE58}"/>
                </a:ext>
              </a:extLst>
            </p:cNvPr>
            <p:cNvSpPr txBox="1"/>
            <p:nvPr/>
          </p:nvSpPr>
          <p:spPr>
            <a:xfrm>
              <a:off x="7400031" y="4845086"/>
              <a:ext cx="99257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>
                  <a:solidFill>
                    <a:schemeClr val="tx1"/>
                  </a:solidFill>
                  <a:latin typeface="Roboto Condensed"/>
                  <a:ea typeface="Roboto Condensed"/>
                  <a:cs typeface="Roboto Condensed"/>
                </a:rPr>
                <a:t>LAN 2 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226EB2E-6329-925F-5FB2-B211E4598220}"/>
                </a:ext>
              </a:extLst>
            </p:cNvPr>
            <p:cNvSpPr/>
            <p:nvPr/>
          </p:nvSpPr>
          <p:spPr>
            <a:xfrm>
              <a:off x="5768453" y="1817129"/>
              <a:ext cx="4255734" cy="3683194"/>
            </a:xfrm>
            <a:prstGeom prst="rect">
              <a:avLst/>
            </a:prstGeom>
            <a:noFill/>
            <a:ln w="571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851A2E8-DCEF-D2E9-D74B-392942CBDD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13593" y="2086493"/>
              <a:ext cx="2365453" cy="26824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74164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3637E-9496-BEBA-6F92-29CE62F42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</a:rPr>
              <a:t>Broadcast in LANs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B8CE7-7BE0-F047-F849-012DA305B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11201"/>
            <a:ext cx="12192000" cy="5742808"/>
          </a:xfrm>
        </p:spPr>
        <p:txBody>
          <a:bodyPr/>
          <a:lstStyle/>
          <a:p>
            <a:r>
              <a:rPr lang="en-IN" dirty="0"/>
              <a:t>Design a two LANs which has one switch and three PCs. LAN 1 PCs can’t communicate with LAN 2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r>
              <a:rPr lang="en-IN" dirty="0"/>
              <a:t>If you connect the system then LAN 1 PC can communicate with other</a:t>
            </a:r>
          </a:p>
          <a:p>
            <a:r>
              <a:rPr lang="en-IN" dirty="0"/>
              <a:t> So how to separate them logically.</a:t>
            </a:r>
          </a:p>
          <a:p>
            <a:r>
              <a:rPr lang="en-IN" dirty="0"/>
              <a:t>What is solution?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921ADD-BB25-AC47-6315-9798B05C4E4B}"/>
              </a:ext>
            </a:extLst>
          </p:cNvPr>
          <p:cNvSpPr txBox="1"/>
          <p:nvPr/>
        </p:nvSpPr>
        <p:spPr>
          <a:xfrm>
            <a:off x="3048000" y="3038862"/>
            <a:ext cx="633507" cy="307777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none" rtlCol="0">
            <a:spAutoFit/>
          </a:bodyPr>
          <a:lstStyle/>
          <a:p>
            <a:r>
              <a:rPr lang="en-IN" dirty="0"/>
              <a:t>LAN1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CCB71F8-DF80-0403-E80F-2FAD950728DF}"/>
              </a:ext>
            </a:extLst>
          </p:cNvPr>
          <p:cNvSpPr/>
          <p:nvPr/>
        </p:nvSpPr>
        <p:spPr>
          <a:xfrm>
            <a:off x="3048000" y="5742809"/>
            <a:ext cx="6410960" cy="71120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>
                <a:solidFill>
                  <a:schemeClr val="bg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Solution is “VLAN”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064918-F0F1-3027-1E3B-38F1E4D1E5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906" t="29417" r="52449" b="22473"/>
          <a:stretch/>
        </p:blipFill>
        <p:spPr>
          <a:xfrm>
            <a:off x="3697623" y="1571074"/>
            <a:ext cx="4083087" cy="309995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B74587C-2574-30CA-D14A-C62C780D31A8}"/>
              </a:ext>
            </a:extLst>
          </p:cNvPr>
          <p:cNvSpPr/>
          <p:nvPr/>
        </p:nvSpPr>
        <p:spPr>
          <a:xfrm>
            <a:off x="3048000" y="1714471"/>
            <a:ext cx="1713933" cy="2956560"/>
          </a:xfrm>
          <a:prstGeom prst="rect">
            <a:avLst/>
          </a:prstGeom>
          <a:noFill/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EDF37D-1FC8-46D7-B86D-042B1DAF8366}"/>
              </a:ext>
            </a:extLst>
          </p:cNvPr>
          <p:cNvSpPr/>
          <p:nvPr/>
        </p:nvSpPr>
        <p:spPr>
          <a:xfrm>
            <a:off x="6572012" y="1696560"/>
            <a:ext cx="1760421" cy="2956560"/>
          </a:xfrm>
          <a:prstGeom prst="rect">
            <a:avLst/>
          </a:prstGeom>
          <a:noFill/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5B8FCA-C532-3104-3348-A17FA36F6CA7}"/>
              </a:ext>
            </a:extLst>
          </p:cNvPr>
          <p:cNvSpPr txBox="1"/>
          <p:nvPr/>
        </p:nvSpPr>
        <p:spPr>
          <a:xfrm>
            <a:off x="7652162" y="2884973"/>
            <a:ext cx="683200" cy="307777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none" rtlCol="0">
            <a:spAutoFit/>
          </a:bodyPr>
          <a:lstStyle/>
          <a:p>
            <a:r>
              <a:rPr lang="en-IN" dirty="0"/>
              <a:t>LAN 2</a:t>
            </a:r>
          </a:p>
        </p:txBody>
      </p:sp>
    </p:spTree>
    <p:extLst>
      <p:ext uri="{BB962C8B-B14F-4D97-AF65-F5344CB8AC3E}">
        <p14:creationId xmlns:p14="http://schemas.microsoft.com/office/powerpoint/2010/main" val="2371065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 animBg="1"/>
      <p:bldP spid="12" grpId="0" animBg="1"/>
      <p:bldP spid="5" grpId="0" animBg="1"/>
      <p:bldP spid="6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8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</a:rPr>
              <a:t>VLANs</a:t>
            </a:r>
          </a:p>
        </p:txBody>
      </p:sp>
      <p:pic>
        <p:nvPicPr>
          <p:cNvPr id="378" name="Google Shape;378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52433" y="3135832"/>
            <a:ext cx="992417" cy="593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28"/>
          <p:cNvPicPr preferRelativeResize="0"/>
          <p:nvPr/>
        </p:nvPicPr>
        <p:blipFill rotWithShape="1">
          <a:blip r:embed="rId4">
            <a:alphaModFix/>
          </a:blip>
          <a:srcRect t="27272" b="26464"/>
          <a:stretch/>
        </p:blipFill>
        <p:spPr>
          <a:xfrm>
            <a:off x="3839095" y="3135832"/>
            <a:ext cx="1197904" cy="554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41838" y="2002381"/>
            <a:ext cx="992417" cy="593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41838" y="4382605"/>
            <a:ext cx="992417" cy="593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28"/>
          <p:cNvPicPr preferRelativeResize="0"/>
          <p:nvPr/>
        </p:nvPicPr>
        <p:blipFill rotWithShape="1">
          <a:blip r:embed="rId4">
            <a:alphaModFix/>
          </a:blip>
          <a:srcRect t="27272" b="26464"/>
          <a:stretch/>
        </p:blipFill>
        <p:spPr>
          <a:xfrm>
            <a:off x="7021050" y="3135832"/>
            <a:ext cx="1197904" cy="554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2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14529" y="2002381"/>
            <a:ext cx="992417" cy="593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14529" y="4382605"/>
            <a:ext cx="992417" cy="593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2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13199" y="3092890"/>
            <a:ext cx="992417" cy="5931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6" name="Google Shape;386;p28"/>
          <p:cNvCxnSpPr>
            <a:stCxn id="380" idx="2"/>
            <a:endCxn id="379" idx="0"/>
          </p:cNvCxnSpPr>
          <p:nvPr/>
        </p:nvCxnSpPr>
        <p:spPr>
          <a:xfrm>
            <a:off x="4438047" y="2595505"/>
            <a:ext cx="0" cy="540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87" name="Google Shape;387;p28"/>
          <p:cNvCxnSpPr>
            <a:stCxn id="383" idx="2"/>
            <a:endCxn id="382" idx="0"/>
          </p:cNvCxnSpPr>
          <p:nvPr/>
        </p:nvCxnSpPr>
        <p:spPr>
          <a:xfrm>
            <a:off x="7610738" y="2595505"/>
            <a:ext cx="9300" cy="540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88" name="Google Shape;388;p28"/>
          <p:cNvCxnSpPr>
            <a:stCxn id="379" idx="2"/>
            <a:endCxn id="381" idx="0"/>
          </p:cNvCxnSpPr>
          <p:nvPr/>
        </p:nvCxnSpPr>
        <p:spPr>
          <a:xfrm>
            <a:off x="4438047" y="3690014"/>
            <a:ext cx="0" cy="692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89" name="Google Shape;389;p28"/>
          <p:cNvCxnSpPr>
            <a:stCxn id="382" idx="2"/>
            <a:endCxn id="384" idx="0"/>
          </p:cNvCxnSpPr>
          <p:nvPr/>
        </p:nvCxnSpPr>
        <p:spPr>
          <a:xfrm flipH="1">
            <a:off x="7610702" y="3690014"/>
            <a:ext cx="9300" cy="692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90" name="Google Shape;390;p28"/>
          <p:cNvCxnSpPr>
            <a:stCxn id="379" idx="1"/>
            <a:endCxn id="378" idx="3"/>
          </p:cNvCxnSpPr>
          <p:nvPr/>
        </p:nvCxnSpPr>
        <p:spPr>
          <a:xfrm flipH="1">
            <a:off x="2444995" y="3412923"/>
            <a:ext cx="1394100" cy="19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91" name="Google Shape;391;p28"/>
          <p:cNvCxnSpPr>
            <a:stCxn id="385" idx="1"/>
            <a:endCxn id="382" idx="3"/>
          </p:cNvCxnSpPr>
          <p:nvPr/>
        </p:nvCxnSpPr>
        <p:spPr>
          <a:xfrm flipH="1">
            <a:off x="8219099" y="3389452"/>
            <a:ext cx="1394100" cy="23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92" name="Google Shape;392;p28"/>
          <p:cNvCxnSpPr>
            <a:stCxn id="382" idx="1"/>
            <a:endCxn id="379" idx="3"/>
          </p:cNvCxnSpPr>
          <p:nvPr/>
        </p:nvCxnSpPr>
        <p:spPr>
          <a:xfrm rot="10800000">
            <a:off x="5036850" y="3412923"/>
            <a:ext cx="19842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393" name="Google Shape;393;p28"/>
          <p:cNvGrpSpPr/>
          <p:nvPr/>
        </p:nvGrpSpPr>
        <p:grpSpPr>
          <a:xfrm>
            <a:off x="435432" y="2713268"/>
            <a:ext cx="2097611" cy="422564"/>
            <a:chOff x="880113" y="3656289"/>
            <a:chExt cx="1713890" cy="422564"/>
          </a:xfrm>
        </p:grpSpPr>
        <p:sp>
          <p:nvSpPr>
            <p:cNvPr id="394" name="Google Shape;394;p28"/>
            <p:cNvSpPr txBox="1"/>
            <p:nvPr/>
          </p:nvSpPr>
          <p:spPr>
            <a:xfrm>
              <a:off x="880113" y="3682905"/>
              <a:ext cx="1384748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rgbClr val="C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192.168.10.2</a:t>
              </a:r>
              <a:endParaRPr dirty="0"/>
            </a:p>
          </p:txBody>
        </p:sp>
        <p:pic>
          <p:nvPicPr>
            <p:cNvPr id="395" name="Google Shape;395;p28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2171439" y="3656289"/>
              <a:ext cx="422564" cy="42256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6" name="Google Shape;396;p28"/>
          <p:cNvGrpSpPr/>
          <p:nvPr/>
        </p:nvGrpSpPr>
        <p:grpSpPr>
          <a:xfrm>
            <a:off x="2917371" y="1580902"/>
            <a:ext cx="2119628" cy="422564"/>
            <a:chOff x="880113" y="3656289"/>
            <a:chExt cx="1713890" cy="422564"/>
          </a:xfrm>
        </p:grpSpPr>
        <p:sp>
          <p:nvSpPr>
            <p:cNvPr id="397" name="Google Shape;397;p28"/>
            <p:cNvSpPr txBox="1"/>
            <p:nvPr/>
          </p:nvSpPr>
          <p:spPr>
            <a:xfrm>
              <a:off x="880113" y="3682905"/>
              <a:ext cx="1384748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rgbClr val="C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192.168.10.3</a:t>
              </a:r>
              <a:endParaRPr dirty="0"/>
            </a:p>
          </p:txBody>
        </p:sp>
        <p:pic>
          <p:nvPicPr>
            <p:cNvPr id="398" name="Google Shape;398;p28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2171439" y="3656289"/>
              <a:ext cx="422564" cy="42256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9" name="Google Shape;399;p28"/>
          <p:cNvGrpSpPr/>
          <p:nvPr/>
        </p:nvGrpSpPr>
        <p:grpSpPr>
          <a:xfrm>
            <a:off x="2917371" y="3960041"/>
            <a:ext cx="2119628" cy="1350712"/>
            <a:chOff x="880113" y="3656289"/>
            <a:chExt cx="1713890" cy="1350712"/>
          </a:xfrm>
        </p:grpSpPr>
        <p:sp>
          <p:nvSpPr>
            <p:cNvPr id="400" name="Google Shape;400;p28"/>
            <p:cNvSpPr txBox="1"/>
            <p:nvPr/>
          </p:nvSpPr>
          <p:spPr>
            <a:xfrm>
              <a:off x="880113" y="4637669"/>
              <a:ext cx="1384748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rgbClr val="48A2B5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192.168.10.4</a:t>
              </a:r>
              <a:endParaRPr dirty="0"/>
            </a:p>
          </p:txBody>
        </p:sp>
        <p:pic>
          <p:nvPicPr>
            <p:cNvPr id="401" name="Google Shape;401;p28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2171439" y="3656289"/>
              <a:ext cx="422564" cy="42256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2" name="Google Shape;402;p28"/>
          <p:cNvGrpSpPr/>
          <p:nvPr/>
        </p:nvGrpSpPr>
        <p:grpSpPr>
          <a:xfrm>
            <a:off x="6019800" y="3960041"/>
            <a:ext cx="2176473" cy="1350712"/>
            <a:chOff x="873128" y="3656289"/>
            <a:chExt cx="1720875" cy="1350712"/>
          </a:xfrm>
        </p:grpSpPr>
        <p:sp>
          <p:nvSpPr>
            <p:cNvPr id="403" name="Google Shape;403;p28"/>
            <p:cNvSpPr txBox="1"/>
            <p:nvPr/>
          </p:nvSpPr>
          <p:spPr>
            <a:xfrm>
              <a:off x="873128" y="4637669"/>
              <a:ext cx="1384748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rgbClr val="48A2B5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192.168.10.6</a:t>
              </a:r>
              <a:endParaRPr dirty="0"/>
            </a:p>
          </p:txBody>
        </p:sp>
        <p:pic>
          <p:nvPicPr>
            <p:cNvPr id="404" name="Google Shape;404;p28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2171439" y="3656289"/>
              <a:ext cx="422564" cy="42256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5" name="Google Shape;405;p28"/>
          <p:cNvGrpSpPr/>
          <p:nvPr/>
        </p:nvGrpSpPr>
        <p:grpSpPr>
          <a:xfrm>
            <a:off x="5887487" y="1553201"/>
            <a:ext cx="2301801" cy="422564"/>
            <a:chOff x="880113" y="3656289"/>
            <a:chExt cx="1713890" cy="422564"/>
          </a:xfrm>
        </p:grpSpPr>
        <p:sp>
          <p:nvSpPr>
            <p:cNvPr id="406" name="Google Shape;406;p28"/>
            <p:cNvSpPr txBox="1"/>
            <p:nvPr/>
          </p:nvSpPr>
          <p:spPr>
            <a:xfrm>
              <a:off x="880113" y="3682905"/>
              <a:ext cx="1384748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rgbClr val="92D05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192.168.10.5</a:t>
              </a:r>
              <a:endParaRPr dirty="0"/>
            </a:p>
          </p:txBody>
        </p:sp>
        <p:pic>
          <p:nvPicPr>
            <p:cNvPr id="407" name="Google Shape;407;p28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2171439" y="3656289"/>
              <a:ext cx="422564" cy="42256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8" name="Google Shape;408;p28"/>
          <p:cNvGrpSpPr/>
          <p:nvPr/>
        </p:nvGrpSpPr>
        <p:grpSpPr>
          <a:xfrm>
            <a:off x="8489271" y="2654386"/>
            <a:ext cx="2177605" cy="422564"/>
            <a:chOff x="880113" y="3656289"/>
            <a:chExt cx="1713890" cy="422564"/>
          </a:xfrm>
        </p:grpSpPr>
        <p:sp>
          <p:nvSpPr>
            <p:cNvPr id="409" name="Google Shape;409;p28"/>
            <p:cNvSpPr txBox="1"/>
            <p:nvPr/>
          </p:nvSpPr>
          <p:spPr>
            <a:xfrm>
              <a:off x="880113" y="3682905"/>
              <a:ext cx="1384748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rgbClr val="92D05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192.168.10.7</a:t>
              </a:r>
              <a:endParaRPr dirty="0"/>
            </a:p>
          </p:txBody>
        </p:sp>
        <p:pic>
          <p:nvPicPr>
            <p:cNvPr id="410" name="Google Shape;410;p28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2171439" y="3656289"/>
              <a:ext cx="422564" cy="42256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1" name="Google Shape;411;p28"/>
          <p:cNvSpPr txBox="1"/>
          <p:nvPr/>
        </p:nvSpPr>
        <p:spPr>
          <a:xfrm>
            <a:off x="2041344" y="1981657"/>
            <a:ext cx="1215506" cy="46166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VLAN 1</a:t>
            </a:r>
            <a:endParaRPr dirty="0"/>
          </a:p>
        </p:txBody>
      </p:sp>
      <p:sp>
        <p:nvSpPr>
          <p:cNvPr id="412" name="Google Shape;412;p28"/>
          <p:cNvSpPr txBox="1"/>
          <p:nvPr/>
        </p:nvSpPr>
        <p:spPr>
          <a:xfrm>
            <a:off x="8786510" y="1981657"/>
            <a:ext cx="1109599" cy="46166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VLAN 3</a:t>
            </a:r>
            <a:endParaRPr/>
          </a:p>
        </p:txBody>
      </p:sp>
      <p:sp>
        <p:nvSpPr>
          <p:cNvPr id="413" name="Google Shape;413;p28"/>
          <p:cNvSpPr txBox="1"/>
          <p:nvPr/>
        </p:nvSpPr>
        <p:spPr>
          <a:xfrm>
            <a:off x="5474224" y="4435026"/>
            <a:ext cx="1109599" cy="461665"/>
          </a:xfrm>
          <a:prstGeom prst="rect">
            <a:avLst/>
          </a:prstGeom>
          <a:solidFill>
            <a:srgbClr val="48A2B5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VLAN 2</a:t>
            </a:r>
            <a:endParaRPr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9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/>
              <a:t>VLAN</a:t>
            </a:r>
          </a:p>
        </p:txBody>
      </p:sp>
      <p:sp>
        <p:nvSpPr>
          <p:cNvPr id="419" name="Google Shape;419;p29"/>
          <p:cNvSpPr txBox="1">
            <a:spLocks noGrp="1"/>
          </p:cNvSpPr>
          <p:nvPr>
            <p:ph type="body" idx="1"/>
          </p:nvPr>
        </p:nvSpPr>
        <p:spPr>
          <a:xfrm>
            <a:off x="131180" y="863444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dirty="0">
                <a:sym typeface="Arial"/>
              </a:rPr>
              <a:t>Virtual LANs or VLANs are usually configured on switches by placing some devices into</a:t>
            </a:r>
            <a:r>
              <a:rPr lang="en-US" b="1" dirty="0">
                <a:sym typeface="Arial"/>
              </a:rPr>
              <a:t> one broadcast domain </a:t>
            </a:r>
            <a:r>
              <a:rPr lang="en-US" dirty="0">
                <a:sym typeface="Arial"/>
              </a:rPr>
              <a:t>and some devices into some </a:t>
            </a:r>
            <a:r>
              <a:rPr lang="en-US" b="1" dirty="0">
                <a:sym typeface="Arial"/>
              </a:rPr>
              <a:t>other broadcast domain.</a:t>
            </a:r>
            <a:endParaRPr b="1" dirty="0">
              <a:sym typeface="Arial"/>
            </a:endParaRPr>
          </a:p>
          <a:p>
            <a:r>
              <a:rPr lang="en-US" dirty="0">
                <a:sym typeface="Arial"/>
              </a:rPr>
              <a:t>VLANs keep traffic from different networks separated when traversing shared links and devices within a topology. </a:t>
            </a:r>
            <a:endParaRPr dirty="0">
              <a:sym typeface="Arial"/>
            </a:endParaRPr>
          </a:p>
          <a:p>
            <a:r>
              <a:rPr lang="en-US" b="1" dirty="0">
                <a:sym typeface="Arial"/>
              </a:rPr>
              <a:t>Each VLANs acts as </a:t>
            </a:r>
            <a:r>
              <a:rPr lang="en-US" dirty="0"/>
              <a:t>a </a:t>
            </a:r>
            <a:r>
              <a:rPr lang="en-US" b="1" dirty="0">
                <a:solidFill>
                  <a:srgbClr val="C00000"/>
                </a:solidFill>
              </a:rPr>
              <a:t>subgroup</a:t>
            </a:r>
            <a:r>
              <a:rPr lang="en-US" dirty="0"/>
              <a:t> of the switch ports in an Ethernet LAN.</a:t>
            </a:r>
            <a:endParaRPr dirty="0"/>
          </a:p>
        </p:txBody>
      </p:sp>
      <p:sp>
        <p:nvSpPr>
          <p:cNvPr id="420" name="Google Shape;420;p29"/>
          <p:cNvSpPr txBox="1"/>
          <p:nvPr/>
        </p:nvSpPr>
        <p:spPr>
          <a:xfrm>
            <a:off x="8687910" y="8140626"/>
            <a:ext cx="86594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8A2B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VLAN 2</a:t>
            </a:r>
            <a:endParaRPr/>
          </a:p>
        </p:txBody>
      </p:sp>
      <p:pic>
        <p:nvPicPr>
          <p:cNvPr id="421" name="Google Shape;421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33378" y="3031898"/>
            <a:ext cx="6348764" cy="35743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0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</a:rPr>
              <a:t>VLAN Example</a:t>
            </a:r>
          </a:p>
        </p:txBody>
      </p:sp>
      <p:pic>
        <p:nvPicPr>
          <p:cNvPr id="427" name="Google Shape;427;p3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743687" y="1353516"/>
            <a:ext cx="6704626" cy="3774704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30"/>
          <p:cNvSpPr/>
          <p:nvPr/>
        </p:nvSpPr>
        <p:spPr>
          <a:xfrm>
            <a:off x="4981752" y="5279197"/>
            <a:ext cx="22284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VLANs per port view</a:t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2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>
              <a:buClr>
                <a:srgbClr val="363636"/>
              </a:buClr>
              <a:buSzPts val="3400"/>
            </a:pPr>
            <a:r>
              <a:rPr lang="en-US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</a:rPr>
              <a:t>Access and Trunk Interfaces</a:t>
            </a:r>
          </a:p>
        </p:txBody>
      </p:sp>
      <p:sp>
        <p:nvSpPr>
          <p:cNvPr id="440" name="Google Shape;440;p32"/>
          <p:cNvSpPr txBox="1">
            <a:spLocks noGrp="1"/>
          </p:cNvSpPr>
          <p:nvPr>
            <p:ph type="body" idx="1"/>
          </p:nvPr>
        </p:nvSpPr>
        <p:spPr>
          <a:xfrm>
            <a:off x="131179" y="802641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Bef>
                <a:spcPts val="0"/>
              </a:spcBef>
              <a:buSzPts val="2400"/>
            </a:pPr>
            <a:r>
              <a:rPr lang="en-US" dirty="0"/>
              <a:t>Ethernet interfaces can be configured in two ways:</a:t>
            </a:r>
          </a:p>
          <a:p>
            <a:pPr marL="914400" lvl="1" indent="-457200">
              <a:spcBef>
                <a:spcPts val="0"/>
              </a:spcBef>
              <a:buFont typeface="+mj-lt"/>
              <a:buAutoNum type="arabicPeriod"/>
            </a:pPr>
            <a:r>
              <a:rPr lang="en-US" b="1" dirty="0">
                <a:solidFill>
                  <a:srgbClr val="C00000"/>
                </a:solidFill>
              </a:rPr>
              <a:t>Access ports</a:t>
            </a:r>
            <a:endParaRPr lang="en-US" dirty="0"/>
          </a:p>
          <a:p>
            <a:pPr marL="914400" lvl="1" indent="-457200">
              <a:spcBef>
                <a:spcPts val="0"/>
              </a:spcBef>
              <a:buFont typeface="+mj-lt"/>
              <a:buAutoNum type="arabicPeriod"/>
            </a:pPr>
            <a:r>
              <a:rPr lang="en-US" b="1" dirty="0">
                <a:solidFill>
                  <a:srgbClr val="C00000"/>
                </a:solidFill>
              </a:rPr>
              <a:t>Trunk ports</a:t>
            </a:r>
            <a:endParaRPr dirty="0"/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3"/>
          <p:cNvSpPr txBox="1"/>
          <p:nvPr/>
        </p:nvSpPr>
        <p:spPr>
          <a:xfrm>
            <a:off x="895516" y="2274838"/>
            <a:ext cx="10400969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 </a:t>
            </a:r>
            <a:r>
              <a:rPr lang="en-US" sz="4800" dirty="0">
                <a:solidFill>
                  <a:srgbClr val="FFC000"/>
                </a:solidFill>
                <a:latin typeface="Lobster"/>
                <a:ea typeface="Lobster"/>
                <a:cs typeface="Lobster"/>
                <a:sym typeface="Lobster"/>
              </a:rPr>
              <a:t>access port</a:t>
            </a:r>
            <a:r>
              <a:rPr lang="en-US" sz="4800" dirty="0">
                <a:solidFill>
                  <a:srgbClr val="FFC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4800" dirty="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can have only </a:t>
            </a:r>
            <a:r>
              <a:rPr lang="en-US" sz="4800" b="1" dirty="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one VLAN</a:t>
            </a:r>
            <a:r>
              <a:rPr lang="en-US" sz="4800" dirty="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configured on the interface; </a:t>
            </a:r>
            <a:r>
              <a:rPr lang="en-US" sz="4800" dirty="0">
                <a:solidFill>
                  <a:srgbClr val="FFFF00"/>
                </a:solidFill>
                <a:latin typeface="Lobster"/>
                <a:ea typeface="Lobster"/>
                <a:cs typeface="Lobster"/>
                <a:sym typeface="Lobster"/>
              </a:rPr>
              <a:t>it can carry traffic for only one</a:t>
            </a:r>
            <a:r>
              <a:rPr lang="en-US" sz="4800" dirty="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4800" b="1" dirty="0">
                <a:solidFill>
                  <a:srgbClr val="FFFF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VLAN</a:t>
            </a:r>
            <a:r>
              <a:rPr lang="en-US" sz="4800" dirty="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endParaRPr dirty="0"/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4"/>
          <p:cNvSpPr txBox="1"/>
          <p:nvPr/>
        </p:nvSpPr>
        <p:spPr>
          <a:xfrm>
            <a:off x="535933" y="629759"/>
            <a:ext cx="9778895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 </a:t>
            </a:r>
            <a:r>
              <a:rPr lang="en-US" sz="48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access port</a:t>
            </a:r>
            <a:r>
              <a:rPr lang="en-US" sz="48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can have only </a:t>
            </a:r>
            <a:r>
              <a:rPr lang="en-US" sz="48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one VLAN</a:t>
            </a:r>
            <a:r>
              <a:rPr lang="en-US" sz="48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configured on the interface; </a:t>
            </a:r>
            <a:r>
              <a:rPr lang="en-US" sz="4800" dirty="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it can carry traffic for only one</a:t>
            </a:r>
            <a:r>
              <a:rPr lang="en-US" sz="48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48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VLAN</a:t>
            </a:r>
            <a:r>
              <a:rPr lang="en-US" sz="48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endParaRPr dirty="0"/>
          </a:p>
        </p:txBody>
      </p:sp>
      <p:pic>
        <p:nvPicPr>
          <p:cNvPr id="451" name="Google Shape;451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56060" y="3919917"/>
            <a:ext cx="911412" cy="544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1639" y="4935703"/>
            <a:ext cx="911412" cy="544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56060" y="5934983"/>
            <a:ext cx="911412" cy="544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34"/>
          <p:cNvPicPr preferRelativeResize="0"/>
          <p:nvPr/>
        </p:nvPicPr>
        <p:blipFill rotWithShape="1">
          <a:blip r:embed="rId4">
            <a:alphaModFix/>
          </a:blip>
          <a:srcRect t="27160" b="27449"/>
          <a:stretch/>
        </p:blipFill>
        <p:spPr>
          <a:xfrm>
            <a:off x="3099532" y="4975553"/>
            <a:ext cx="1024467" cy="465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36737" y="3914193"/>
            <a:ext cx="911412" cy="544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36737" y="5912347"/>
            <a:ext cx="911412" cy="544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34"/>
          <p:cNvPicPr preferRelativeResize="0"/>
          <p:nvPr/>
        </p:nvPicPr>
        <p:blipFill rotWithShape="1">
          <a:blip r:embed="rId4">
            <a:alphaModFix/>
          </a:blip>
          <a:srcRect t="27160" b="27449"/>
          <a:stretch/>
        </p:blipFill>
        <p:spPr>
          <a:xfrm>
            <a:off x="5580209" y="4969829"/>
            <a:ext cx="1024467" cy="465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59122" y="4929979"/>
            <a:ext cx="911412" cy="544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34"/>
          <p:cNvPicPr preferRelativeResize="0"/>
          <p:nvPr/>
        </p:nvPicPr>
        <p:blipFill rotWithShape="1">
          <a:blip r:embed="rId4">
            <a:alphaModFix/>
          </a:blip>
          <a:srcRect t="27160" b="27449"/>
          <a:stretch/>
        </p:blipFill>
        <p:spPr>
          <a:xfrm>
            <a:off x="7697130" y="4969829"/>
            <a:ext cx="1024467" cy="4650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0" name="Google Shape;460;p34"/>
          <p:cNvCxnSpPr>
            <a:stCxn id="452" idx="3"/>
            <a:endCxn id="454" idx="1"/>
          </p:cNvCxnSpPr>
          <p:nvPr/>
        </p:nvCxnSpPr>
        <p:spPr>
          <a:xfrm>
            <a:off x="1903051" y="5208059"/>
            <a:ext cx="1196400" cy="0"/>
          </a:xfrm>
          <a:prstGeom prst="straightConnector1">
            <a:avLst/>
          </a:prstGeom>
          <a:noFill/>
          <a:ln w="38100" cap="flat" cmpd="sng">
            <a:solidFill>
              <a:srgbClr val="BC770B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61" name="Google Shape;461;p34"/>
          <p:cNvCxnSpPr>
            <a:stCxn id="451" idx="2"/>
            <a:endCxn id="454" idx="0"/>
          </p:cNvCxnSpPr>
          <p:nvPr/>
        </p:nvCxnSpPr>
        <p:spPr>
          <a:xfrm>
            <a:off x="3611766" y="4464628"/>
            <a:ext cx="0" cy="510900"/>
          </a:xfrm>
          <a:prstGeom prst="straightConnector1">
            <a:avLst/>
          </a:prstGeom>
          <a:noFill/>
          <a:ln w="38100" cap="flat" cmpd="sng">
            <a:solidFill>
              <a:srgbClr val="BC770B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62" name="Google Shape;462;p34"/>
          <p:cNvCxnSpPr>
            <a:stCxn id="454" idx="2"/>
            <a:endCxn id="453" idx="0"/>
          </p:cNvCxnSpPr>
          <p:nvPr/>
        </p:nvCxnSpPr>
        <p:spPr>
          <a:xfrm>
            <a:off x="3611766" y="5440565"/>
            <a:ext cx="0" cy="494400"/>
          </a:xfrm>
          <a:prstGeom prst="straightConnector1">
            <a:avLst/>
          </a:prstGeom>
          <a:noFill/>
          <a:ln w="38100" cap="flat" cmpd="sng">
            <a:solidFill>
              <a:srgbClr val="BC770B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63" name="Google Shape;463;p34"/>
          <p:cNvCxnSpPr>
            <a:stCxn id="459" idx="3"/>
            <a:endCxn id="458" idx="1"/>
          </p:cNvCxnSpPr>
          <p:nvPr/>
        </p:nvCxnSpPr>
        <p:spPr>
          <a:xfrm>
            <a:off x="8721597" y="5202335"/>
            <a:ext cx="1137600" cy="0"/>
          </a:xfrm>
          <a:prstGeom prst="straightConnector1">
            <a:avLst/>
          </a:prstGeom>
          <a:noFill/>
          <a:ln w="38100" cap="flat" cmpd="sng">
            <a:solidFill>
              <a:srgbClr val="BC770B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64" name="Google Shape;464;p34"/>
          <p:cNvCxnSpPr>
            <a:stCxn id="455" idx="2"/>
            <a:endCxn id="457" idx="0"/>
          </p:cNvCxnSpPr>
          <p:nvPr/>
        </p:nvCxnSpPr>
        <p:spPr>
          <a:xfrm>
            <a:off x="6092443" y="4458904"/>
            <a:ext cx="0" cy="510900"/>
          </a:xfrm>
          <a:prstGeom prst="straightConnector1">
            <a:avLst/>
          </a:prstGeom>
          <a:noFill/>
          <a:ln w="38100" cap="flat" cmpd="sng">
            <a:solidFill>
              <a:srgbClr val="BC770B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65" name="Google Shape;465;p34"/>
          <p:cNvCxnSpPr>
            <a:stCxn id="457" idx="2"/>
            <a:endCxn id="456" idx="0"/>
          </p:cNvCxnSpPr>
          <p:nvPr/>
        </p:nvCxnSpPr>
        <p:spPr>
          <a:xfrm>
            <a:off x="6092443" y="5434841"/>
            <a:ext cx="0" cy="477600"/>
          </a:xfrm>
          <a:prstGeom prst="straightConnector1">
            <a:avLst/>
          </a:prstGeom>
          <a:noFill/>
          <a:ln w="38100" cap="flat" cmpd="sng">
            <a:solidFill>
              <a:srgbClr val="BC770B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66" name="Google Shape;466;p34"/>
          <p:cNvCxnSpPr>
            <a:stCxn id="454" idx="3"/>
            <a:endCxn id="457" idx="1"/>
          </p:cNvCxnSpPr>
          <p:nvPr/>
        </p:nvCxnSpPr>
        <p:spPr>
          <a:xfrm rot="10800000" flipH="1">
            <a:off x="4123999" y="5202359"/>
            <a:ext cx="1456200" cy="5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67" name="Google Shape;467;p34"/>
          <p:cNvCxnSpPr>
            <a:stCxn id="457" idx="3"/>
            <a:endCxn id="459" idx="1"/>
          </p:cNvCxnSpPr>
          <p:nvPr/>
        </p:nvCxnSpPr>
        <p:spPr>
          <a:xfrm>
            <a:off x="6604676" y="5202335"/>
            <a:ext cx="1092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68" name="Google Shape;468;p34"/>
          <p:cNvSpPr txBox="1"/>
          <p:nvPr/>
        </p:nvSpPr>
        <p:spPr>
          <a:xfrm>
            <a:off x="8646594" y="5221611"/>
            <a:ext cx="128753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BC770B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Access Port</a:t>
            </a:r>
            <a:endParaRPr dirty="0"/>
          </a:p>
        </p:txBody>
      </p:sp>
      <p:sp>
        <p:nvSpPr>
          <p:cNvPr id="469" name="Google Shape;469;p34"/>
          <p:cNvSpPr txBox="1"/>
          <p:nvPr/>
        </p:nvSpPr>
        <p:spPr>
          <a:xfrm>
            <a:off x="1855857" y="5221611"/>
            <a:ext cx="128753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BC770B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Access Port</a:t>
            </a:r>
            <a:endParaRPr dirty="0"/>
          </a:p>
        </p:txBody>
      </p:sp>
      <p:sp>
        <p:nvSpPr>
          <p:cNvPr id="470" name="Google Shape;470;p34"/>
          <p:cNvSpPr txBox="1"/>
          <p:nvPr/>
        </p:nvSpPr>
        <p:spPr>
          <a:xfrm>
            <a:off x="6081987" y="5482776"/>
            <a:ext cx="128753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BC770B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Access Port</a:t>
            </a:r>
            <a:endParaRPr dirty="0"/>
          </a:p>
        </p:txBody>
      </p:sp>
      <p:sp>
        <p:nvSpPr>
          <p:cNvPr id="471" name="Google Shape;471;p34"/>
          <p:cNvSpPr txBox="1"/>
          <p:nvPr/>
        </p:nvSpPr>
        <p:spPr>
          <a:xfrm>
            <a:off x="3584778" y="5482776"/>
            <a:ext cx="128753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BC770B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Access Port</a:t>
            </a:r>
            <a:endParaRPr dirty="0"/>
          </a:p>
        </p:txBody>
      </p:sp>
      <p:sp>
        <p:nvSpPr>
          <p:cNvPr id="472" name="Google Shape;472;p34"/>
          <p:cNvSpPr txBox="1"/>
          <p:nvPr/>
        </p:nvSpPr>
        <p:spPr>
          <a:xfrm>
            <a:off x="2324233" y="4531032"/>
            <a:ext cx="128753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BC770B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Access Port</a:t>
            </a:r>
            <a:endParaRPr dirty="0"/>
          </a:p>
        </p:txBody>
      </p:sp>
      <p:sp>
        <p:nvSpPr>
          <p:cNvPr id="473" name="Google Shape;473;p34"/>
          <p:cNvSpPr txBox="1"/>
          <p:nvPr/>
        </p:nvSpPr>
        <p:spPr>
          <a:xfrm>
            <a:off x="4828866" y="4529700"/>
            <a:ext cx="128753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BC770B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Access Port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6"/>
          <p:cNvSpPr txBox="1"/>
          <p:nvPr/>
        </p:nvSpPr>
        <p:spPr>
          <a:xfrm>
            <a:off x="895516" y="2274838"/>
            <a:ext cx="10400969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 </a:t>
            </a:r>
            <a:r>
              <a:rPr lang="en-US" sz="4800">
                <a:solidFill>
                  <a:srgbClr val="FFC000"/>
                </a:solidFill>
                <a:latin typeface="Lobster"/>
                <a:ea typeface="Lobster"/>
                <a:cs typeface="Lobster"/>
                <a:sym typeface="Lobster"/>
              </a:rPr>
              <a:t>trunk port</a:t>
            </a:r>
            <a:r>
              <a:rPr lang="en-US" sz="4800">
                <a:solidFill>
                  <a:srgbClr val="FFC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4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can have two or more </a:t>
            </a:r>
            <a:r>
              <a:rPr lang="en-US" sz="48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VLANs</a:t>
            </a:r>
            <a:r>
              <a:rPr lang="en-US" sz="4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configured on the interface; </a:t>
            </a:r>
            <a:r>
              <a:rPr lang="en-US" sz="4800">
                <a:solidFill>
                  <a:srgbClr val="FFFF00"/>
                </a:solidFill>
                <a:latin typeface="Lobster"/>
                <a:ea typeface="Lobster"/>
                <a:cs typeface="Lobster"/>
                <a:sym typeface="Lobster"/>
              </a:rPr>
              <a:t>it can carry traffic for several </a:t>
            </a:r>
            <a:r>
              <a:rPr lang="en-US" sz="4800" b="1">
                <a:solidFill>
                  <a:srgbClr val="FFFF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VLANs </a:t>
            </a:r>
            <a:r>
              <a:rPr lang="en-US" sz="4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simultaneously.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0" name="Google Shape;490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56060" y="3919917"/>
            <a:ext cx="911412" cy="544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1639" y="4935703"/>
            <a:ext cx="911412" cy="544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56060" y="5934983"/>
            <a:ext cx="911412" cy="544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37"/>
          <p:cNvPicPr preferRelativeResize="0"/>
          <p:nvPr/>
        </p:nvPicPr>
        <p:blipFill rotWithShape="1">
          <a:blip r:embed="rId4">
            <a:alphaModFix/>
          </a:blip>
          <a:srcRect t="27160" b="27449"/>
          <a:stretch/>
        </p:blipFill>
        <p:spPr>
          <a:xfrm>
            <a:off x="3099532" y="4975553"/>
            <a:ext cx="1024467" cy="465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3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36737" y="3914193"/>
            <a:ext cx="911412" cy="544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3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36737" y="5912347"/>
            <a:ext cx="911412" cy="544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37"/>
          <p:cNvPicPr preferRelativeResize="0"/>
          <p:nvPr/>
        </p:nvPicPr>
        <p:blipFill rotWithShape="1">
          <a:blip r:embed="rId4">
            <a:alphaModFix/>
          </a:blip>
          <a:srcRect t="27160" b="27449"/>
          <a:stretch/>
        </p:blipFill>
        <p:spPr>
          <a:xfrm>
            <a:off x="5580209" y="4969829"/>
            <a:ext cx="1024467" cy="465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59122" y="4929979"/>
            <a:ext cx="911412" cy="544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37"/>
          <p:cNvPicPr preferRelativeResize="0"/>
          <p:nvPr/>
        </p:nvPicPr>
        <p:blipFill rotWithShape="1">
          <a:blip r:embed="rId4">
            <a:alphaModFix/>
          </a:blip>
          <a:srcRect t="27160" b="27449"/>
          <a:stretch/>
        </p:blipFill>
        <p:spPr>
          <a:xfrm>
            <a:off x="7697130" y="4969829"/>
            <a:ext cx="1024467" cy="4650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9" name="Google Shape;499;p37"/>
          <p:cNvCxnSpPr>
            <a:stCxn id="491" idx="3"/>
            <a:endCxn id="493" idx="1"/>
          </p:cNvCxnSpPr>
          <p:nvPr/>
        </p:nvCxnSpPr>
        <p:spPr>
          <a:xfrm>
            <a:off x="1903051" y="5208059"/>
            <a:ext cx="1196400" cy="0"/>
          </a:xfrm>
          <a:prstGeom prst="straightConnector1">
            <a:avLst/>
          </a:prstGeom>
          <a:noFill/>
          <a:ln w="38100" cap="flat" cmpd="sng">
            <a:solidFill>
              <a:srgbClr val="BC770B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00" name="Google Shape;500;p37"/>
          <p:cNvCxnSpPr>
            <a:stCxn id="490" idx="2"/>
            <a:endCxn id="493" idx="0"/>
          </p:cNvCxnSpPr>
          <p:nvPr/>
        </p:nvCxnSpPr>
        <p:spPr>
          <a:xfrm>
            <a:off x="3611766" y="4464628"/>
            <a:ext cx="0" cy="510900"/>
          </a:xfrm>
          <a:prstGeom prst="straightConnector1">
            <a:avLst/>
          </a:prstGeom>
          <a:noFill/>
          <a:ln w="38100" cap="flat" cmpd="sng">
            <a:solidFill>
              <a:srgbClr val="BC770B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01" name="Google Shape;501;p37"/>
          <p:cNvCxnSpPr>
            <a:stCxn id="493" idx="2"/>
            <a:endCxn id="492" idx="0"/>
          </p:cNvCxnSpPr>
          <p:nvPr/>
        </p:nvCxnSpPr>
        <p:spPr>
          <a:xfrm>
            <a:off x="3611766" y="5440565"/>
            <a:ext cx="0" cy="494400"/>
          </a:xfrm>
          <a:prstGeom prst="straightConnector1">
            <a:avLst/>
          </a:prstGeom>
          <a:noFill/>
          <a:ln w="38100" cap="flat" cmpd="sng">
            <a:solidFill>
              <a:srgbClr val="BC770B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02" name="Google Shape;502;p37"/>
          <p:cNvCxnSpPr>
            <a:stCxn id="498" idx="3"/>
            <a:endCxn id="497" idx="1"/>
          </p:cNvCxnSpPr>
          <p:nvPr/>
        </p:nvCxnSpPr>
        <p:spPr>
          <a:xfrm>
            <a:off x="8721597" y="5202335"/>
            <a:ext cx="1137600" cy="0"/>
          </a:xfrm>
          <a:prstGeom prst="straightConnector1">
            <a:avLst/>
          </a:prstGeom>
          <a:noFill/>
          <a:ln w="38100" cap="flat" cmpd="sng">
            <a:solidFill>
              <a:srgbClr val="BC770B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03" name="Google Shape;503;p37"/>
          <p:cNvCxnSpPr>
            <a:stCxn id="494" idx="2"/>
            <a:endCxn id="496" idx="0"/>
          </p:cNvCxnSpPr>
          <p:nvPr/>
        </p:nvCxnSpPr>
        <p:spPr>
          <a:xfrm>
            <a:off x="6092443" y="4458904"/>
            <a:ext cx="0" cy="510900"/>
          </a:xfrm>
          <a:prstGeom prst="straightConnector1">
            <a:avLst/>
          </a:prstGeom>
          <a:noFill/>
          <a:ln w="38100" cap="flat" cmpd="sng">
            <a:solidFill>
              <a:srgbClr val="BC770B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04" name="Google Shape;504;p37"/>
          <p:cNvCxnSpPr>
            <a:stCxn id="496" idx="2"/>
            <a:endCxn id="495" idx="0"/>
          </p:cNvCxnSpPr>
          <p:nvPr/>
        </p:nvCxnSpPr>
        <p:spPr>
          <a:xfrm>
            <a:off x="6092443" y="5434841"/>
            <a:ext cx="0" cy="477600"/>
          </a:xfrm>
          <a:prstGeom prst="straightConnector1">
            <a:avLst/>
          </a:prstGeom>
          <a:noFill/>
          <a:ln w="38100" cap="flat" cmpd="sng">
            <a:solidFill>
              <a:srgbClr val="BC770B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05" name="Google Shape;505;p37"/>
          <p:cNvCxnSpPr>
            <a:stCxn id="493" idx="3"/>
            <a:endCxn id="496" idx="1"/>
          </p:cNvCxnSpPr>
          <p:nvPr/>
        </p:nvCxnSpPr>
        <p:spPr>
          <a:xfrm rot="10800000" flipH="1">
            <a:off x="4123999" y="5202359"/>
            <a:ext cx="1456200" cy="5700"/>
          </a:xfrm>
          <a:prstGeom prst="straightConnector1">
            <a:avLst/>
          </a:prstGeom>
          <a:noFill/>
          <a:ln w="381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06" name="Google Shape;506;p37"/>
          <p:cNvCxnSpPr>
            <a:stCxn id="496" idx="3"/>
            <a:endCxn id="498" idx="1"/>
          </p:cNvCxnSpPr>
          <p:nvPr/>
        </p:nvCxnSpPr>
        <p:spPr>
          <a:xfrm>
            <a:off x="6604676" y="5202335"/>
            <a:ext cx="1092600" cy="0"/>
          </a:xfrm>
          <a:prstGeom prst="straightConnector1">
            <a:avLst/>
          </a:prstGeom>
          <a:noFill/>
          <a:ln w="381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07" name="Google Shape;507;p37"/>
          <p:cNvSpPr txBox="1"/>
          <p:nvPr/>
        </p:nvSpPr>
        <p:spPr>
          <a:xfrm>
            <a:off x="6558340" y="4831962"/>
            <a:ext cx="13765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Trunk Port</a:t>
            </a:r>
            <a:endParaRPr dirty="0"/>
          </a:p>
        </p:txBody>
      </p:sp>
      <p:sp>
        <p:nvSpPr>
          <p:cNvPr id="508" name="Google Shape;508;p37"/>
          <p:cNvSpPr txBox="1"/>
          <p:nvPr/>
        </p:nvSpPr>
        <p:spPr>
          <a:xfrm>
            <a:off x="4258837" y="4831962"/>
            <a:ext cx="13202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Trunk Port</a:t>
            </a:r>
            <a:endParaRPr dirty="0"/>
          </a:p>
        </p:txBody>
      </p:sp>
      <p:sp>
        <p:nvSpPr>
          <p:cNvPr id="509" name="Google Shape;509;p37"/>
          <p:cNvSpPr txBox="1"/>
          <p:nvPr/>
        </p:nvSpPr>
        <p:spPr>
          <a:xfrm>
            <a:off x="8524800" y="5406277"/>
            <a:ext cx="15311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BC770B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Access Port</a:t>
            </a:r>
            <a:endParaRPr dirty="0"/>
          </a:p>
        </p:txBody>
      </p:sp>
      <p:sp>
        <p:nvSpPr>
          <p:cNvPr id="510" name="Google Shape;510;p37"/>
          <p:cNvSpPr txBox="1"/>
          <p:nvPr/>
        </p:nvSpPr>
        <p:spPr>
          <a:xfrm>
            <a:off x="1695040" y="5381847"/>
            <a:ext cx="1648543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BC770B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Access Port</a:t>
            </a:r>
            <a:endParaRPr dirty="0"/>
          </a:p>
        </p:txBody>
      </p:sp>
      <p:sp>
        <p:nvSpPr>
          <p:cNvPr id="511" name="Google Shape;511;p37"/>
          <p:cNvSpPr txBox="1"/>
          <p:nvPr/>
        </p:nvSpPr>
        <p:spPr>
          <a:xfrm>
            <a:off x="6081986" y="5482776"/>
            <a:ext cx="16151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BC770B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Access Port</a:t>
            </a:r>
            <a:endParaRPr dirty="0"/>
          </a:p>
        </p:txBody>
      </p:sp>
      <p:sp>
        <p:nvSpPr>
          <p:cNvPr id="512" name="Google Shape;512;p37"/>
          <p:cNvSpPr txBox="1"/>
          <p:nvPr/>
        </p:nvSpPr>
        <p:spPr>
          <a:xfrm>
            <a:off x="3584777" y="5482776"/>
            <a:ext cx="15641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BC770B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Access Port</a:t>
            </a:r>
            <a:endParaRPr dirty="0"/>
          </a:p>
        </p:txBody>
      </p:sp>
      <p:sp>
        <p:nvSpPr>
          <p:cNvPr id="513" name="Google Shape;513;p37"/>
          <p:cNvSpPr txBox="1"/>
          <p:nvPr/>
        </p:nvSpPr>
        <p:spPr>
          <a:xfrm>
            <a:off x="2098111" y="4531032"/>
            <a:ext cx="15136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BC770B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Access Port</a:t>
            </a:r>
            <a:endParaRPr dirty="0"/>
          </a:p>
        </p:txBody>
      </p:sp>
      <p:sp>
        <p:nvSpPr>
          <p:cNvPr id="514" name="Google Shape;514;p37"/>
          <p:cNvSpPr txBox="1"/>
          <p:nvPr/>
        </p:nvSpPr>
        <p:spPr>
          <a:xfrm>
            <a:off x="4653806" y="4398062"/>
            <a:ext cx="15501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BC770B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Access Port</a:t>
            </a:r>
            <a:endParaRPr dirty="0"/>
          </a:p>
        </p:txBody>
      </p:sp>
      <p:sp>
        <p:nvSpPr>
          <p:cNvPr id="515" name="Google Shape;515;p37"/>
          <p:cNvSpPr txBox="1"/>
          <p:nvPr/>
        </p:nvSpPr>
        <p:spPr>
          <a:xfrm>
            <a:off x="1002281" y="582849"/>
            <a:ext cx="10187438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 </a:t>
            </a:r>
            <a:r>
              <a:rPr lang="en-US" sz="48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trunk port</a:t>
            </a:r>
            <a:r>
              <a:rPr lang="en-US" sz="4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can have two or more </a:t>
            </a:r>
            <a:r>
              <a:rPr lang="en-US" sz="48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VLANs</a:t>
            </a:r>
            <a:r>
              <a:rPr lang="en-US" sz="4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configured on the interface; </a:t>
            </a:r>
            <a:r>
              <a:rPr lang="en-US" sz="48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it can carry traffic for several </a:t>
            </a:r>
            <a:r>
              <a:rPr lang="en-US" sz="48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VLANs </a:t>
            </a:r>
            <a:r>
              <a:rPr lang="en-US" sz="4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simultaneously.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5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</a:rPr>
              <a:t>VLANs on multiple switches</a:t>
            </a:r>
          </a:p>
        </p:txBody>
      </p:sp>
      <p:pic>
        <p:nvPicPr>
          <p:cNvPr id="479" name="Google Shape;479;p3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684333" y="852616"/>
            <a:ext cx="8823334" cy="4967537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5"/>
          <p:cNvSpPr txBox="1"/>
          <p:nvPr/>
        </p:nvSpPr>
        <p:spPr>
          <a:xfrm>
            <a:off x="3571110" y="5820153"/>
            <a:ext cx="58123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VLANs spanned on multiple switches with </a:t>
            </a:r>
            <a:r>
              <a:rPr lang="en-US" sz="1800" i="1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Trunking</a:t>
            </a:r>
            <a:endParaRPr sz="1800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0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>
              <a:buClr>
                <a:srgbClr val="363636"/>
              </a:buClr>
              <a:buSzPts val="3400"/>
            </a:pPr>
            <a:r>
              <a:rPr lang="en-US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</a:rPr>
              <a:t>Configure VLAN</a:t>
            </a:r>
          </a:p>
        </p:txBody>
      </p:sp>
      <p:pic>
        <p:nvPicPr>
          <p:cNvPr id="573" name="Google Shape;573;p4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730589" y="1757361"/>
            <a:ext cx="8730823" cy="4159086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40"/>
          <p:cNvSpPr/>
          <p:nvPr/>
        </p:nvSpPr>
        <p:spPr>
          <a:xfrm>
            <a:off x="3364907" y="1049615"/>
            <a:ext cx="386355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rgbClr val="3B3B3B"/>
                </a:solidFill>
                <a:latin typeface="Roboto"/>
                <a:ea typeface="Roboto"/>
                <a:cs typeface="Roboto"/>
                <a:sym typeface="Roboto"/>
              </a:rPr>
              <a:t>Example of a switch with two VLANs</a:t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1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</a:rPr>
              <a:t>Steps to create VLANs</a:t>
            </a:r>
          </a:p>
        </p:txBody>
      </p:sp>
      <p:sp>
        <p:nvSpPr>
          <p:cNvPr id="580" name="Google Shape;580;p41"/>
          <p:cNvSpPr txBox="1">
            <a:spLocks noGrp="1"/>
          </p:cNvSpPr>
          <p:nvPr>
            <p:ph type="body" idx="1"/>
          </p:nvPr>
        </p:nvSpPr>
        <p:spPr>
          <a:xfrm>
            <a:off x="131179" y="640082"/>
            <a:ext cx="11929641" cy="5974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dirty="0"/>
              <a:t>In the CLI tab of the switch type </a:t>
            </a:r>
            <a:r>
              <a:rPr lang="en-US" b="1" dirty="0"/>
              <a:t>conf t </a:t>
            </a:r>
            <a:r>
              <a:rPr lang="en-US" dirty="0"/>
              <a:t>and press enter</a:t>
            </a:r>
            <a:endParaRPr dirty="0"/>
          </a:p>
          <a:p>
            <a:r>
              <a:rPr lang="en-US" dirty="0"/>
              <a:t>Type </a:t>
            </a:r>
            <a:r>
              <a:rPr lang="en-US" b="1" dirty="0" err="1"/>
              <a:t>vlan</a:t>
            </a:r>
            <a:r>
              <a:rPr lang="en-US" b="1" dirty="0"/>
              <a:t> 10</a:t>
            </a:r>
            <a:r>
              <a:rPr lang="en-US" dirty="0"/>
              <a:t> on the prompt and press enter</a:t>
            </a:r>
          </a:p>
          <a:p>
            <a:r>
              <a:rPr lang="en-US" dirty="0"/>
              <a:t>Type </a:t>
            </a:r>
            <a:r>
              <a:rPr lang="en-US" b="1" dirty="0"/>
              <a:t>name A BLOCK </a:t>
            </a:r>
            <a:r>
              <a:rPr lang="en-US" dirty="0"/>
              <a:t>on the prompt and press enter</a:t>
            </a:r>
          </a:p>
          <a:p>
            <a:r>
              <a:rPr lang="en-US" dirty="0"/>
              <a:t>Enter </a:t>
            </a:r>
            <a:r>
              <a:rPr lang="en-US" b="1" dirty="0"/>
              <a:t>exit </a:t>
            </a:r>
            <a:r>
              <a:rPr lang="en-US" dirty="0"/>
              <a:t>on the prompt and press enter</a:t>
            </a:r>
          </a:p>
          <a:p>
            <a:r>
              <a:rPr lang="en-US" dirty="0"/>
              <a:t>Type </a:t>
            </a:r>
            <a:r>
              <a:rPr lang="en-US" b="1" dirty="0" err="1"/>
              <a:t>vlan</a:t>
            </a:r>
            <a:r>
              <a:rPr lang="en-US" b="1" dirty="0"/>
              <a:t> 20</a:t>
            </a:r>
            <a:r>
              <a:rPr lang="en-US" dirty="0"/>
              <a:t> on the prompt and press enter</a:t>
            </a:r>
          </a:p>
          <a:p>
            <a:r>
              <a:rPr lang="en-US" dirty="0"/>
              <a:t>Type </a:t>
            </a:r>
            <a:r>
              <a:rPr lang="en-US" b="1" dirty="0"/>
              <a:t>name C BLOCK </a:t>
            </a:r>
            <a:r>
              <a:rPr lang="en-US" dirty="0"/>
              <a:t>on the prompt and press enter</a:t>
            </a:r>
          </a:p>
          <a:p>
            <a:r>
              <a:rPr lang="en-US" dirty="0"/>
              <a:t>Enter </a:t>
            </a:r>
            <a:r>
              <a:rPr lang="en-US" b="1" dirty="0"/>
              <a:t>end </a:t>
            </a:r>
            <a:r>
              <a:rPr lang="en-US" dirty="0"/>
              <a:t>on the prompt and press enter</a:t>
            </a:r>
          </a:p>
          <a:p>
            <a:r>
              <a:rPr lang="en-US" dirty="0"/>
              <a:t>Type </a:t>
            </a:r>
            <a:r>
              <a:rPr lang="en-US" b="1" dirty="0"/>
              <a:t>show </a:t>
            </a:r>
            <a:r>
              <a:rPr lang="en-US" b="1" dirty="0" err="1"/>
              <a:t>vlan</a:t>
            </a:r>
            <a:r>
              <a:rPr lang="en-US" b="1" dirty="0"/>
              <a:t> brief </a:t>
            </a:r>
            <a:r>
              <a:rPr lang="en-US" dirty="0"/>
              <a:t>and press enter</a:t>
            </a:r>
          </a:p>
          <a:p>
            <a:r>
              <a:rPr lang="en-US" dirty="0"/>
              <a:t>Type </a:t>
            </a:r>
            <a:r>
              <a:rPr lang="en-US" b="1" dirty="0"/>
              <a:t>conf t </a:t>
            </a:r>
            <a:r>
              <a:rPr lang="en-US" dirty="0"/>
              <a:t>and press enter</a:t>
            </a:r>
          </a:p>
          <a:p>
            <a:r>
              <a:rPr lang="en-US" dirty="0"/>
              <a:t>Type </a:t>
            </a:r>
            <a:r>
              <a:rPr lang="en-US" b="1" dirty="0"/>
              <a:t>interface range fa0/1 – 4</a:t>
            </a:r>
          </a:p>
          <a:p>
            <a:r>
              <a:rPr lang="en-US" dirty="0"/>
              <a:t>Type </a:t>
            </a:r>
            <a:r>
              <a:rPr lang="en-US" b="1" dirty="0"/>
              <a:t>switchport access </a:t>
            </a:r>
            <a:r>
              <a:rPr lang="en-US" b="1" dirty="0" err="1"/>
              <a:t>vlan</a:t>
            </a:r>
            <a:r>
              <a:rPr lang="en-US" b="1" dirty="0"/>
              <a:t> 10</a:t>
            </a:r>
          </a:p>
          <a:p>
            <a:r>
              <a:rPr lang="en-US" dirty="0"/>
              <a:t>Type </a:t>
            </a:r>
            <a:r>
              <a:rPr lang="en-US" b="1" dirty="0"/>
              <a:t>switchport mode access</a:t>
            </a:r>
          </a:p>
          <a:p>
            <a:r>
              <a:rPr lang="en-US" dirty="0"/>
              <a:t>Type </a:t>
            </a:r>
            <a:r>
              <a:rPr lang="en-US" b="1" dirty="0"/>
              <a:t>exit</a:t>
            </a:r>
            <a:endParaRPr dirty="0"/>
          </a:p>
        </p:txBody>
      </p:sp>
      <p:pic>
        <p:nvPicPr>
          <p:cNvPr id="581" name="Google Shape;581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15677" y="1515601"/>
            <a:ext cx="5345144" cy="2546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42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</a:rPr>
              <a:t>Steps to create VLANs</a:t>
            </a:r>
          </a:p>
        </p:txBody>
      </p:sp>
      <p:sp>
        <p:nvSpPr>
          <p:cNvPr id="587" name="Google Shape;587;p42"/>
          <p:cNvSpPr txBox="1">
            <a:spLocks noGrp="1"/>
          </p:cNvSpPr>
          <p:nvPr>
            <p:ph type="body" idx="1"/>
          </p:nvPr>
        </p:nvSpPr>
        <p:spPr>
          <a:xfrm>
            <a:off x="131180" y="863444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dirty="0"/>
              <a:t>Type </a:t>
            </a:r>
            <a:r>
              <a:rPr lang="en-US" b="1" dirty="0"/>
              <a:t>exit</a:t>
            </a:r>
            <a:r>
              <a:rPr lang="en-US" dirty="0"/>
              <a:t> and press enter</a:t>
            </a:r>
            <a:endParaRPr dirty="0"/>
          </a:p>
          <a:p>
            <a:pPr lvl="0"/>
            <a:r>
              <a:rPr lang="en-US" dirty="0"/>
              <a:t>Type </a:t>
            </a:r>
            <a:r>
              <a:rPr lang="en-US" b="1" dirty="0"/>
              <a:t>interface range fa0/15-18</a:t>
            </a:r>
          </a:p>
          <a:p>
            <a:pPr lvl="0"/>
            <a:r>
              <a:rPr lang="en-US" dirty="0"/>
              <a:t>Type </a:t>
            </a:r>
            <a:r>
              <a:rPr lang="en-US" b="1" dirty="0"/>
              <a:t>switchport access </a:t>
            </a:r>
            <a:r>
              <a:rPr lang="en-US" b="1" dirty="0" err="1"/>
              <a:t>vlan</a:t>
            </a:r>
            <a:r>
              <a:rPr lang="en-US" b="1" dirty="0"/>
              <a:t> 20</a:t>
            </a:r>
          </a:p>
          <a:p>
            <a:pPr lvl="0"/>
            <a:r>
              <a:rPr lang="en-US" dirty="0"/>
              <a:t>Type </a:t>
            </a:r>
            <a:r>
              <a:rPr lang="en-US" b="1" dirty="0"/>
              <a:t>switchport mode access</a:t>
            </a:r>
          </a:p>
          <a:p>
            <a:pPr lvl="0"/>
            <a:r>
              <a:rPr lang="en-US" dirty="0"/>
              <a:t>Type </a:t>
            </a:r>
            <a:r>
              <a:rPr lang="en-US" b="1" dirty="0"/>
              <a:t>end </a:t>
            </a:r>
            <a:r>
              <a:rPr lang="en-US" dirty="0"/>
              <a:t>and press enter</a:t>
            </a:r>
            <a:endParaRPr lang="en-US" b="1" dirty="0"/>
          </a:p>
          <a:p>
            <a:pPr lvl="0"/>
            <a:r>
              <a:rPr lang="en-US" dirty="0"/>
              <a:t>Type </a:t>
            </a:r>
            <a:r>
              <a:rPr lang="en-US" b="1" dirty="0"/>
              <a:t>show </a:t>
            </a:r>
            <a:r>
              <a:rPr lang="en-US" b="1" dirty="0" err="1"/>
              <a:t>vlan</a:t>
            </a:r>
            <a:r>
              <a:rPr lang="en-US" b="1" dirty="0"/>
              <a:t> brief </a:t>
            </a:r>
            <a:r>
              <a:rPr lang="en-US" dirty="0"/>
              <a:t>and press enter</a:t>
            </a:r>
            <a:endParaRPr dirty="0"/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 b="1" dirty="0"/>
          </a:p>
        </p:txBody>
      </p:sp>
      <p:pic>
        <p:nvPicPr>
          <p:cNvPr id="588" name="Google Shape;588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15677" y="1515601"/>
            <a:ext cx="5345144" cy="2546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5836" y="3658726"/>
            <a:ext cx="4795186" cy="2699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43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 dirty="0">
                <a:solidFill>
                  <a:schemeClr val="tx1"/>
                </a:solidFill>
                <a:latin typeface="Roboto Condensed"/>
                <a:ea typeface="Roboto Condensed"/>
                <a:cs typeface="Roboto Condensed"/>
              </a:rPr>
              <a:t>Example VLANs</a:t>
            </a:r>
          </a:p>
        </p:txBody>
      </p:sp>
      <p:pic>
        <p:nvPicPr>
          <p:cNvPr id="595" name="Google Shape;595;p4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314065" y="2717626"/>
            <a:ext cx="5877935" cy="284925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596" name="Google Shape;596;p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8064" y="3825066"/>
            <a:ext cx="4982295" cy="2492539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0AA36AF-6D62-8E4D-C9AF-9ECB33CE33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833733"/>
            <a:ext cx="6186294" cy="271210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4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D3064"/>
              </a:buClr>
              <a:buSzPts val="6000"/>
              <a:buFont typeface="Roboto Condensed"/>
              <a:buNone/>
            </a:pPr>
            <a:r>
              <a:rPr lang="en-US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deo Lecture 16x9 Light Template">
  <a:themeElements>
    <a:clrScheme name="Jay">
      <a:dk1>
        <a:srgbClr val="212121"/>
      </a:dk1>
      <a:lt1>
        <a:srgbClr val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8465</TotalTime>
  <Words>605</Words>
  <Application>Microsoft Office PowerPoint</Application>
  <PresentationFormat>Widescreen</PresentationFormat>
  <Paragraphs>109</Paragraphs>
  <Slides>19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Noto Sans Symbols</vt:lpstr>
      <vt:lpstr>Times New Roman</vt:lpstr>
      <vt:lpstr>Arial</vt:lpstr>
      <vt:lpstr>Roboto Condensed</vt:lpstr>
      <vt:lpstr>Lobster</vt:lpstr>
      <vt:lpstr>Roboto Condensed Light</vt:lpstr>
      <vt:lpstr>Calibri</vt:lpstr>
      <vt:lpstr>Wingdings</vt:lpstr>
      <vt:lpstr>Wingdings 3</vt:lpstr>
      <vt:lpstr>Roboto</vt:lpstr>
      <vt:lpstr>VIdeo Lecture 16x9 Light Template</vt:lpstr>
      <vt:lpstr>LAB- 5  Study the concept of VLAN</vt:lpstr>
      <vt:lpstr>PowerPoint Presentation</vt:lpstr>
      <vt:lpstr>Broadcast in LANs</vt:lpstr>
      <vt:lpstr>Broadcast in LANs</vt:lpstr>
      <vt:lpstr>Broadcast in LANs</vt:lpstr>
      <vt:lpstr>VLANs</vt:lpstr>
      <vt:lpstr>VLAN</vt:lpstr>
      <vt:lpstr>VLAN Example</vt:lpstr>
      <vt:lpstr>Access and Trunk Interfaces</vt:lpstr>
      <vt:lpstr>PowerPoint Presentation</vt:lpstr>
      <vt:lpstr>PowerPoint Presentation</vt:lpstr>
      <vt:lpstr>PowerPoint Presentation</vt:lpstr>
      <vt:lpstr>PowerPoint Presentation</vt:lpstr>
      <vt:lpstr>VLANs on multiple switches</vt:lpstr>
      <vt:lpstr>Configure VLAN</vt:lpstr>
      <vt:lpstr>Steps to create VLANs</vt:lpstr>
      <vt:lpstr>Steps to create VLANs</vt:lpstr>
      <vt:lpstr>Example VLANs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Unit-3  Transmission Media</dc:title>
  <dc:creator>dolly</dc:creator>
  <cp:lastModifiedBy>Darshit Bhimani</cp:lastModifiedBy>
  <cp:revision>177</cp:revision>
  <dcterms:modified xsi:type="dcterms:W3CDTF">2026-07-09T04:07:01Z</dcterms:modified>
</cp:coreProperties>
</file>